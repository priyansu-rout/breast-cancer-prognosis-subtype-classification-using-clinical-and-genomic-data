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37"/>
  </p:notesMasterIdLst>
  <p:sldIdLst>
    <p:sldId id="257" r:id="rId2"/>
    <p:sldId id="294" r:id="rId3"/>
    <p:sldId id="258" r:id="rId4"/>
    <p:sldId id="271" r:id="rId5"/>
    <p:sldId id="272" r:id="rId6"/>
    <p:sldId id="259" r:id="rId7"/>
    <p:sldId id="260" r:id="rId8"/>
    <p:sldId id="261" r:id="rId9"/>
    <p:sldId id="262" r:id="rId10"/>
    <p:sldId id="263" r:id="rId11"/>
    <p:sldId id="264" r:id="rId12"/>
    <p:sldId id="286" r:id="rId13"/>
    <p:sldId id="265" r:id="rId14"/>
    <p:sldId id="273" r:id="rId15"/>
    <p:sldId id="293" r:id="rId16"/>
    <p:sldId id="275" r:id="rId17"/>
    <p:sldId id="276" r:id="rId18"/>
    <p:sldId id="266" r:id="rId19"/>
    <p:sldId id="267" r:id="rId20"/>
    <p:sldId id="277" r:id="rId21"/>
    <p:sldId id="268" r:id="rId22"/>
    <p:sldId id="278" r:id="rId23"/>
    <p:sldId id="279" r:id="rId24"/>
    <p:sldId id="280" r:id="rId25"/>
    <p:sldId id="292" r:id="rId26"/>
    <p:sldId id="282" r:id="rId27"/>
    <p:sldId id="283" r:id="rId28"/>
    <p:sldId id="284" r:id="rId29"/>
    <p:sldId id="269" r:id="rId30"/>
    <p:sldId id="287" r:id="rId31"/>
    <p:sldId id="281" r:id="rId32"/>
    <p:sldId id="289" r:id="rId33"/>
    <p:sldId id="290" r:id="rId34"/>
    <p:sldId id="291" r:id="rId35"/>
    <p:sldId id="270"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878EBC8-3413-4644-86FD-BDEA3E582B73}">
          <p14:sldIdLst>
            <p14:sldId id="257"/>
            <p14:sldId id="294"/>
            <p14:sldId id="258"/>
            <p14:sldId id="271"/>
            <p14:sldId id="272"/>
            <p14:sldId id="259"/>
            <p14:sldId id="260"/>
            <p14:sldId id="261"/>
            <p14:sldId id="262"/>
            <p14:sldId id="263"/>
            <p14:sldId id="264"/>
            <p14:sldId id="286"/>
            <p14:sldId id="265"/>
            <p14:sldId id="273"/>
            <p14:sldId id="293"/>
            <p14:sldId id="275"/>
            <p14:sldId id="276"/>
            <p14:sldId id="266"/>
            <p14:sldId id="267"/>
            <p14:sldId id="277"/>
            <p14:sldId id="268"/>
            <p14:sldId id="278"/>
            <p14:sldId id="279"/>
            <p14:sldId id="280"/>
            <p14:sldId id="292"/>
            <p14:sldId id="282"/>
            <p14:sldId id="283"/>
            <p14:sldId id="284"/>
            <p14:sldId id="269"/>
            <p14:sldId id="287"/>
            <p14:sldId id="281"/>
            <p14:sldId id="289"/>
            <p14:sldId id="290"/>
            <p14:sldId id="291"/>
            <p14:sldId id="270"/>
          </p14:sldIdLst>
        </p14:section>
      </p14:sectionLst>
    </p:ext>
    <p:ext uri="{EFAFB233-063F-42B5-8137-9DF3F51BA10A}">
      <p15:sldGuideLst xmlns:p15="http://schemas.microsoft.com/office/powerpoint/2012/main">
        <p15:guide id="1" orient="horz" pos="2141"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5706" autoAdjust="0"/>
  </p:normalViewPr>
  <p:slideViewPr>
    <p:cSldViewPr snapToGrid="0" snapToObjects="1" showGuides="1">
      <p:cViewPr varScale="1">
        <p:scale>
          <a:sx n="78" d="100"/>
          <a:sy n="78" d="100"/>
        </p:scale>
        <p:origin x="850" y="72"/>
      </p:cViewPr>
      <p:guideLst>
        <p:guide orient="horz" pos="2141"/>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Tree>
    <p:extLst>
      <p:ext uri="{BB962C8B-B14F-4D97-AF65-F5344CB8AC3E}">
        <p14:creationId xmlns:p14="http://schemas.microsoft.com/office/powerpoint/2010/main" val="34480189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lang="en-US" dirty="0"/>
              <a:t>Lead with the problem, not the method. Most of your audience works in a different subfield. One concrete number here is worth three adjectives. About 1 minute.</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Put the takeaway in words on the slide — do not make the audience derive it from the numbers. Report variance, not just headline figures, and do not claim an improvement that sits inside the error bars. 1–2 minutes.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Leave this slide up during questions so the chair and attendees can see your contact details. Repeat each question before answering — online audio is unreliable and not everyone will have heard it.</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03E63"/>
          </a:solidFill>
          <a:ln>
            <a:noFill/>
          </a:ln>
          <a:effectLst/>
        </p:spPr>
        <p:txBody>
          <a:bodyPr rtlCol="0" anchor="ctr"/>
          <a:lstStyle/>
          <a:p>
            <a:pPr algn="ctr"/>
            <a:endParaRPr dirty="0"/>
          </a:p>
        </p:txBody>
      </p:sp>
      <p:sp>
        <p:nvSpPr>
          <p:cNvPr id="3" name="Rectangle 2"/>
          <p:cNvSpPr/>
          <p:nvPr/>
        </p:nvSpPr>
        <p:spPr>
          <a:xfrm>
            <a:off x="0" y="2761488"/>
            <a:ext cx="12191695" cy="45720"/>
          </a:xfrm>
          <a:prstGeom prst="rect">
            <a:avLst/>
          </a:prstGeom>
          <a:solidFill>
            <a:srgbClr val="E3AD31"/>
          </a:solidFill>
          <a:ln>
            <a:noFill/>
          </a:ln>
          <a:effectLst/>
        </p:spPr>
        <p:txBody>
          <a:bodyPr rtlCol="0" anchor="ctr"/>
          <a:lstStyle/>
          <a:p>
            <a:pPr algn="ctr"/>
            <a:endParaRPr/>
          </a:p>
        </p:txBody>
      </p:sp>
      <p:sp>
        <p:nvSpPr>
          <p:cNvPr id="7" name="Rectangle 6"/>
          <p:cNvSpPr/>
          <p:nvPr/>
        </p:nvSpPr>
        <p:spPr>
          <a:xfrm>
            <a:off x="914400" y="5074920"/>
            <a:ext cx="10332720" cy="10972"/>
          </a:xfrm>
          <a:prstGeom prst="rect">
            <a:avLst/>
          </a:prstGeom>
          <a:solidFill>
            <a:srgbClr val="1C5A82"/>
          </a:solidFill>
          <a:ln>
            <a:noFill/>
          </a:ln>
          <a:effectLst/>
        </p:spPr>
        <p:txBody>
          <a:bodyPr rtlCol="0" anchor="ctr"/>
          <a:lstStyle/>
          <a:p>
            <a:pPr algn="ctr"/>
            <a:endParaRPr/>
          </a:p>
        </p:txBody>
      </p:sp>
      <p:pic>
        <p:nvPicPr>
          <p:cNvPr id="11" name="Picture 10"/>
          <p:cNvPicPr>
            <a:picLocks noChangeAspect="1"/>
          </p:cNvPicPr>
          <p:nvPr/>
        </p:nvPicPr>
        <p:blipFill>
          <a:blip r:embed="rId3"/>
          <a:stretch>
            <a:fillRect/>
          </a:stretch>
        </p:blipFill>
        <p:spPr>
          <a:xfrm>
            <a:off x="15241" y="3646"/>
            <a:ext cx="12192000" cy="6854354"/>
          </a:xfrm>
          <a:prstGeom prst="rect">
            <a:avLst/>
          </a:prstGeom>
        </p:spPr>
      </p:pic>
      <p:sp>
        <p:nvSpPr>
          <p:cNvPr id="12" name="Title 11"/>
          <p:cNvSpPr>
            <a:spLocks noGrp="1"/>
          </p:cNvSpPr>
          <p:nvPr>
            <p:ph type="ctrTitle"/>
          </p:nvPr>
        </p:nvSpPr>
        <p:spPr>
          <a:xfrm>
            <a:off x="1074020" y="1304034"/>
            <a:ext cx="6400800" cy="2512709"/>
          </a:xfrm>
        </p:spPr>
        <p:txBody>
          <a:bodyPr>
            <a:normAutofit/>
          </a:bodyPr>
          <a:lstStyle/>
          <a:p>
            <a:r>
              <a:rPr lang="en-US" b="1" u="sng" dirty="0">
                <a:solidFill>
                  <a:schemeClr val="bg1"/>
                </a:solidFill>
              </a:rPr>
              <a:t>BREAST CANCER PROGNOSIS &amp; SUBTYPE CLASSIFICATION</a:t>
            </a:r>
          </a:p>
        </p:txBody>
      </p:sp>
      <p:sp>
        <p:nvSpPr>
          <p:cNvPr id="13" name="Subtitle 12"/>
          <p:cNvSpPr>
            <a:spLocks noGrp="1"/>
          </p:cNvSpPr>
          <p:nvPr>
            <p:ph type="subTitle" idx="1"/>
          </p:nvPr>
        </p:nvSpPr>
        <p:spPr/>
        <p:txBody>
          <a:bodyPr/>
          <a:lstStyle/>
          <a:p>
            <a:r>
              <a:rPr lang="en-US" dirty="0">
                <a:solidFill>
                  <a:schemeClr val="bg1"/>
                </a:solidFill>
              </a:rPr>
              <a:t>“A Machine Learning and Bioinformatics Approach”</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8D517-DF72-E510-3931-FF1740102BD9}"/>
              </a:ext>
            </a:extLst>
          </p:cNvPr>
          <p:cNvSpPr>
            <a:spLocks noGrp="1"/>
          </p:cNvSpPr>
          <p:nvPr>
            <p:ph type="title"/>
          </p:nvPr>
        </p:nvSpPr>
        <p:spPr>
          <a:xfrm>
            <a:off x="457200" y="274638"/>
            <a:ext cx="8229600" cy="757749"/>
          </a:xfrm>
        </p:spPr>
        <p:txBody>
          <a:bodyPr>
            <a:normAutofit/>
          </a:bodyPr>
          <a:lstStyle/>
          <a:p>
            <a:pPr algn="l"/>
            <a:r>
              <a:rPr lang="en-US" sz="3200" b="1" u="sng" dirty="0"/>
              <a:t>Team Details</a:t>
            </a:r>
          </a:p>
        </p:txBody>
      </p:sp>
      <p:sp>
        <p:nvSpPr>
          <p:cNvPr id="3" name="Content Placeholder 2">
            <a:extLst>
              <a:ext uri="{FF2B5EF4-FFF2-40B4-BE49-F238E27FC236}">
                <a16:creationId xmlns:a16="http://schemas.microsoft.com/office/drawing/2014/main" id="{60796D35-1A0D-4297-48DC-809D5C3BAFC6}"/>
              </a:ext>
            </a:extLst>
          </p:cNvPr>
          <p:cNvSpPr>
            <a:spLocks noGrp="1"/>
          </p:cNvSpPr>
          <p:nvPr>
            <p:ph idx="1"/>
          </p:nvPr>
        </p:nvSpPr>
        <p:spPr>
          <a:xfrm>
            <a:off x="457199" y="1057226"/>
            <a:ext cx="11253019" cy="4183368"/>
          </a:xfrm>
        </p:spPr>
        <p:txBody>
          <a:bodyPr>
            <a:normAutofit lnSpcReduction="10000"/>
          </a:bodyPr>
          <a:lstStyle/>
          <a:p>
            <a:pPr marL="0" indent="0">
              <a:buNone/>
            </a:pPr>
            <a:r>
              <a:rPr lang="en-US" sz="2800" b="1" dirty="0"/>
              <a:t>Breast Cancer Prognosis &amp; Subtype Classification</a:t>
            </a:r>
          </a:p>
          <a:p>
            <a:pPr marL="0" indent="0">
              <a:spcBef>
                <a:spcPts val="0"/>
              </a:spcBef>
              <a:buNone/>
            </a:pPr>
            <a:r>
              <a:rPr lang="en-US" sz="1600" b="1" dirty="0"/>
              <a:t>  </a:t>
            </a:r>
            <a:r>
              <a:rPr lang="en-US" sz="2400" b="1" u="sng" dirty="0"/>
              <a:t>Mentor</a:t>
            </a:r>
            <a:r>
              <a:rPr lang="en-US" sz="1600" b="1" dirty="0"/>
              <a:t>  </a:t>
            </a:r>
          </a:p>
          <a:p>
            <a:pPr marL="0" indent="0">
              <a:lnSpc>
                <a:spcPct val="110000"/>
              </a:lnSpc>
              <a:spcBef>
                <a:spcPts val="0"/>
              </a:spcBef>
              <a:buNone/>
            </a:pPr>
            <a:r>
              <a:rPr lang="en-US" sz="1600" b="1" dirty="0"/>
              <a:t> </a:t>
            </a:r>
            <a:r>
              <a:rPr lang="en-US" sz="2200" dirty="0"/>
              <a:t>Swatantra Pradhan                                       </a:t>
            </a:r>
          </a:p>
          <a:p>
            <a:pPr marL="0" indent="0">
              <a:lnSpc>
                <a:spcPct val="110000"/>
              </a:lnSpc>
              <a:spcBef>
                <a:spcPts val="0"/>
              </a:spcBef>
              <a:buNone/>
            </a:pPr>
            <a:r>
              <a:rPr lang="en-US" sz="1600" b="1" dirty="0"/>
              <a:t> </a:t>
            </a:r>
            <a:r>
              <a:rPr lang="en-US" sz="2400" b="1" u="sng" dirty="0"/>
              <a:t>Team Leader</a:t>
            </a:r>
          </a:p>
          <a:p>
            <a:pPr marL="0" indent="0">
              <a:lnSpc>
                <a:spcPct val="110000"/>
              </a:lnSpc>
              <a:spcBef>
                <a:spcPts val="0"/>
              </a:spcBef>
              <a:buNone/>
            </a:pPr>
            <a:r>
              <a:rPr lang="en-US" sz="2200" b="1" dirty="0"/>
              <a:t> </a:t>
            </a:r>
            <a:r>
              <a:rPr lang="en-US" sz="2200" dirty="0"/>
              <a:t>Manish Kumar Baitharu      Regd No: 2341002004                                              </a:t>
            </a:r>
          </a:p>
          <a:p>
            <a:pPr marL="0" indent="0">
              <a:spcBef>
                <a:spcPts val="0"/>
              </a:spcBef>
              <a:buNone/>
            </a:pPr>
            <a:r>
              <a:rPr lang="en-US" sz="2400" b="1" u="sng" dirty="0"/>
              <a:t>Team Members</a:t>
            </a:r>
          </a:p>
          <a:p>
            <a:pPr marL="0" indent="0">
              <a:buNone/>
            </a:pPr>
            <a:r>
              <a:rPr lang="en-US" sz="2200" dirty="0"/>
              <a:t>1. Amit Roshan Biswal           Regd.No:2341002212</a:t>
            </a:r>
          </a:p>
          <a:p>
            <a:pPr marL="0" indent="0">
              <a:buNone/>
            </a:pPr>
            <a:r>
              <a:rPr lang="en-US" sz="2200" dirty="0"/>
              <a:t>2. Priyanshu Kumar Sahoo    Regd.No:2341019047</a:t>
            </a:r>
          </a:p>
          <a:p>
            <a:pPr marL="0" indent="0">
              <a:buNone/>
            </a:pPr>
            <a:r>
              <a:rPr lang="en-US" sz="2200" dirty="0"/>
              <a:t>3. Priyansu Rout                      Regd.No:2341018172</a:t>
            </a:r>
          </a:p>
          <a:p>
            <a:pPr marL="0" indent="0">
              <a:buNone/>
            </a:pPr>
            <a:r>
              <a:rPr lang="en-US" sz="2200" dirty="0"/>
              <a:t>4. Priyanshu Behera                Regd.No:2341002114</a:t>
            </a:r>
          </a:p>
          <a:p>
            <a:pPr marL="0" indent="0">
              <a:buNone/>
            </a:pPr>
            <a:r>
              <a:rPr lang="en-US" sz="2200" dirty="0"/>
              <a:t>5. Sidharth Behera                  Regd.No:2341002120</a:t>
            </a:r>
          </a:p>
          <a:p>
            <a:pPr marL="0" indent="0">
              <a:buNone/>
            </a:pPr>
            <a:endParaRPr lang="en-US" sz="2400" b="1" dirty="0"/>
          </a:p>
        </p:txBody>
      </p:sp>
      <p:sp>
        <p:nvSpPr>
          <p:cNvPr id="5" name="Rectangle 4">
            <a:extLst>
              <a:ext uri="{FF2B5EF4-FFF2-40B4-BE49-F238E27FC236}">
                <a16:creationId xmlns:a16="http://schemas.microsoft.com/office/drawing/2014/main" id="{6FBE1837-558B-3D8F-D860-4C69C6255354}"/>
              </a:ext>
            </a:extLst>
          </p:cNvPr>
          <p:cNvSpPr/>
          <p:nvPr/>
        </p:nvSpPr>
        <p:spPr>
          <a:xfrm>
            <a:off x="0" y="0"/>
            <a:ext cx="12191695" cy="146304"/>
          </a:xfrm>
          <a:prstGeom prst="rect">
            <a:avLst/>
          </a:prstGeom>
          <a:solidFill>
            <a:srgbClr val="003E63"/>
          </a:solidFill>
          <a:ln>
            <a:noFill/>
          </a:ln>
          <a:effectLst/>
        </p:spPr>
        <p:txBody>
          <a:bodyPr rtlCol="0" anchor="ctr"/>
          <a:lstStyle/>
          <a:p>
            <a:pPr algn="ctr"/>
            <a:endParaRPr/>
          </a:p>
        </p:txBody>
      </p:sp>
      <p:sp>
        <p:nvSpPr>
          <p:cNvPr id="7" name="Rectangle 6">
            <a:extLst>
              <a:ext uri="{FF2B5EF4-FFF2-40B4-BE49-F238E27FC236}">
                <a16:creationId xmlns:a16="http://schemas.microsoft.com/office/drawing/2014/main" id="{2D624E60-B588-4E2A-5B37-78BC84AE7E40}"/>
              </a:ext>
            </a:extLst>
          </p:cNvPr>
          <p:cNvSpPr/>
          <p:nvPr/>
        </p:nvSpPr>
        <p:spPr>
          <a:xfrm>
            <a:off x="596818" y="960026"/>
            <a:ext cx="822960" cy="45720"/>
          </a:xfrm>
          <a:prstGeom prst="rect">
            <a:avLst/>
          </a:prstGeom>
          <a:solidFill>
            <a:srgbClr val="E3AD31"/>
          </a:solidFill>
          <a:ln>
            <a:noFill/>
          </a:ln>
          <a:effectLst/>
        </p:spPr>
        <p:txBody>
          <a:bodyPr rtlCol="0" anchor="ctr"/>
          <a:lstStyle/>
          <a:p>
            <a:pPr algn="ctr"/>
            <a:endParaRPr/>
          </a:p>
        </p:txBody>
      </p:sp>
      <p:sp>
        <p:nvSpPr>
          <p:cNvPr id="27" name="TextBox 26">
            <a:extLst>
              <a:ext uri="{FF2B5EF4-FFF2-40B4-BE49-F238E27FC236}">
                <a16:creationId xmlns:a16="http://schemas.microsoft.com/office/drawing/2014/main" id="{2F41519A-DAF5-A2EA-FEF5-87ACED049ACA}"/>
              </a:ext>
            </a:extLst>
          </p:cNvPr>
          <p:cNvSpPr txBox="1"/>
          <p:nvPr/>
        </p:nvSpPr>
        <p:spPr>
          <a:xfrm>
            <a:off x="3215149" y="5620302"/>
            <a:ext cx="6096000" cy="369332"/>
          </a:xfrm>
          <a:prstGeom prst="rect">
            <a:avLst/>
          </a:prstGeom>
          <a:noFill/>
        </p:spPr>
        <p:txBody>
          <a:bodyPr wrap="square">
            <a:spAutoFit/>
          </a:bodyPr>
          <a:lstStyle/>
          <a:p>
            <a:r>
              <a:rPr lang="en-US" dirty="0"/>
              <a:t>Department of Computer Science &amp; Engineering (AI&amp;ML)</a:t>
            </a:r>
          </a:p>
        </p:txBody>
      </p:sp>
      <p:sp>
        <p:nvSpPr>
          <p:cNvPr id="29" name="TextBox 28">
            <a:extLst>
              <a:ext uri="{FF2B5EF4-FFF2-40B4-BE49-F238E27FC236}">
                <a16:creationId xmlns:a16="http://schemas.microsoft.com/office/drawing/2014/main" id="{6A6FE510-44D6-01A4-7053-48CEC145256B}"/>
              </a:ext>
            </a:extLst>
          </p:cNvPr>
          <p:cNvSpPr txBox="1"/>
          <p:nvPr/>
        </p:nvSpPr>
        <p:spPr>
          <a:xfrm>
            <a:off x="3696494" y="5966850"/>
            <a:ext cx="6096000" cy="369332"/>
          </a:xfrm>
          <a:prstGeom prst="rect">
            <a:avLst/>
          </a:prstGeom>
          <a:noFill/>
        </p:spPr>
        <p:txBody>
          <a:bodyPr wrap="square">
            <a:spAutoFit/>
          </a:bodyPr>
          <a:lstStyle/>
          <a:p>
            <a:r>
              <a:rPr lang="en-US" dirty="0"/>
              <a:t>Institute of Technical Education and Research</a:t>
            </a:r>
          </a:p>
        </p:txBody>
      </p:sp>
      <p:sp>
        <p:nvSpPr>
          <p:cNvPr id="31" name="TextBox 30">
            <a:extLst>
              <a:ext uri="{FF2B5EF4-FFF2-40B4-BE49-F238E27FC236}">
                <a16:creationId xmlns:a16="http://schemas.microsoft.com/office/drawing/2014/main" id="{198CB72F-B7DF-3F82-ACDB-6DB69AEBC4A8}"/>
              </a:ext>
            </a:extLst>
          </p:cNvPr>
          <p:cNvSpPr txBox="1"/>
          <p:nvPr/>
        </p:nvSpPr>
        <p:spPr>
          <a:xfrm>
            <a:off x="2959510" y="6265094"/>
            <a:ext cx="6096000" cy="369332"/>
          </a:xfrm>
          <a:prstGeom prst="rect">
            <a:avLst/>
          </a:prstGeom>
          <a:noFill/>
        </p:spPr>
        <p:txBody>
          <a:bodyPr wrap="square">
            <a:spAutoFit/>
          </a:bodyPr>
          <a:lstStyle/>
          <a:p>
            <a:r>
              <a:rPr lang="en-US" dirty="0"/>
              <a:t>Jagamohan Nagar, Jagamara, Bhubaneswar, Odisha - 751030</a:t>
            </a:r>
          </a:p>
        </p:txBody>
      </p:sp>
    </p:spTree>
    <p:extLst>
      <p:ext uri="{BB962C8B-B14F-4D97-AF65-F5344CB8AC3E}">
        <p14:creationId xmlns:p14="http://schemas.microsoft.com/office/powerpoint/2010/main" val="12808901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3E63"/>
          </a:solidFill>
          <a:ln>
            <a:noFill/>
          </a:ln>
          <a:effectLst/>
        </p:spPr>
        <p:txBody>
          <a:bodyPr rtlCol="0" anchor="ctr"/>
          <a:lstStyle/>
          <a:p>
            <a:pPr algn="ctr"/>
            <a:endParaRPr/>
          </a:p>
        </p:txBody>
      </p:sp>
      <p:sp>
        <p:nvSpPr>
          <p:cNvPr id="3" name="TextBox 2"/>
          <p:cNvSpPr txBox="1"/>
          <p:nvPr/>
        </p:nvSpPr>
        <p:spPr>
          <a:xfrm>
            <a:off x="822960" y="337166"/>
            <a:ext cx="10515600" cy="492443"/>
          </a:xfrm>
          <a:prstGeom prst="rect">
            <a:avLst/>
          </a:prstGeom>
          <a:noFill/>
        </p:spPr>
        <p:txBody>
          <a:bodyPr wrap="square" lIns="0" tIns="0" rIns="0" bIns="0" anchor="t">
            <a:spAutoFit/>
          </a:bodyPr>
          <a:lstStyle/>
          <a:p>
            <a:pPr algn="l"/>
            <a:r>
              <a:rPr sz="3200" b="1" u="sng" dirty="0">
                <a:latin typeface="+mj-lt"/>
              </a:rPr>
              <a:t>Outline</a:t>
            </a:r>
          </a:p>
        </p:txBody>
      </p:sp>
      <p:sp>
        <p:nvSpPr>
          <p:cNvPr id="4" name="Rectangle 3"/>
          <p:cNvSpPr/>
          <p:nvPr/>
        </p:nvSpPr>
        <p:spPr>
          <a:xfrm>
            <a:off x="822960" y="960026"/>
            <a:ext cx="822960" cy="45720"/>
          </a:xfrm>
          <a:prstGeom prst="rect">
            <a:avLst/>
          </a:prstGeom>
          <a:solidFill>
            <a:srgbClr val="E3AD31"/>
          </a:solidFill>
          <a:ln>
            <a:noFill/>
          </a:ln>
          <a:effectLst/>
        </p:spPr>
        <p:txBody>
          <a:bodyPr rtlCol="0" anchor="ctr"/>
          <a:lstStyle/>
          <a:p>
            <a:pPr algn="ctr"/>
            <a:endParaRPr/>
          </a:p>
        </p:txBody>
      </p:sp>
      <p:sp>
        <p:nvSpPr>
          <p:cNvPr id="8" name="TextBox 7"/>
          <p:cNvSpPr txBox="1"/>
          <p:nvPr/>
        </p:nvSpPr>
        <p:spPr>
          <a:xfrm>
            <a:off x="853440" y="1362170"/>
            <a:ext cx="10332720" cy="5157502"/>
          </a:xfrm>
          <a:prstGeom prst="rect">
            <a:avLst/>
          </a:prstGeom>
          <a:noFill/>
        </p:spPr>
        <p:txBody>
          <a:bodyPr wrap="square" lIns="0" tIns="0" rIns="0" bIns="0">
            <a:spAutoFit/>
          </a:bodyPr>
          <a:lstStyle/>
          <a:p>
            <a:pPr marL="342900" lvl="0" indent="-342900">
              <a:buFont typeface="Arial" panose="020B0604020202020204" pitchFamily="34" charset="0"/>
              <a:buChar char="•"/>
            </a:pPr>
            <a:r>
              <a:rPr lang="en-US" sz="2400" dirty="0"/>
              <a:t>Introduction and motivation</a:t>
            </a:r>
          </a:p>
          <a:p>
            <a:pPr marL="342900" lvl="0" indent="-342900">
              <a:buFont typeface="Arial" panose="020B0604020202020204" pitchFamily="34" charset="0"/>
              <a:buChar char="•"/>
            </a:pPr>
            <a:r>
              <a:rPr lang="en-US" sz="2400" dirty="0"/>
              <a:t>Problem statement</a:t>
            </a:r>
          </a:p>
          <a:p>
            <a:pPr marL="342900" lvl="0" indent="-342900">
              <a:buFont typeface="Arial" panose="020B0604020202020204" pitchFamily="34" charset="0"/>
              <a:buChar char="•"/>
            </a:pPr>
            <a:r>
              <a:rPr lang="en-US" sz="2400" dirty="0"/>
              <a:t>Project contributions</a:t>
            </a:r>
          </a:p>
          <a:p>
            <a:pPr marL="342900" lvl="0" indent="-342900">
              <a:buFont typeface="Arial" panose="020B0604020202020204" pitchFamily="34" charset="0"/>
              <a:buChar char="•"/>
            </a:pPr>
            <a:r>
              <a:rPr lang="en-US" sz="2400" dirty="0"/>
              <a:t>Dataset description</a:t>
            </a:r>
          </a:p>
          <a:p>
            <a:pPr marL="342900" lvl="0" indent="-342900">
              <a:buFont typeface="Arial" panose="020B0604020202020204" pitchFamily="34" charset="0"/>
              <a:buChar char="•"/>
            </a:pPr>
            <a:r>
              <a:rPr lang="en-US" sz="2400" dirty="0"/>
              <a:t>Proposed methodology and workflow</a:t>
            </a:r>
          </a:p>
          <a:p>
            <a:pPr marL="342900" lvl="0" indent="-342900">
              <a:buFont typeface="Arial" panose="020B0604020202020204" pitchFamily="34" charset="0"/>
              <a:buChar char="•"/>
            </a:pPr>
            <a:r>
              <a:rPr lang="en-US" sz="2400" dirty="0"/>
              <a:t>Feature importance analysis</a:t>
            </a:r>
          </a:p>
          <a:p>
            <a:pPr marL="342900" lvl="0" indent="-342900">
              <a:buFont typeface="Arial" panose="020B0604020202020204" pitchFamily="34" charset="0"/>
              <a:buChar char="•"/>
            </a:pPr>
            <a:r>
              <a:rPr lang="en-US" sz="2400" dirty="0"/>
              <a:t>Consensus-based gene selection</a:t>
            </a:r>
          </a:p>
          <a:p>
            <a:pPr marL="342900" lvl="0" indent="-342900">
              <a:buFont typeface="Arial" panose="020B0604020202020204" pitchFamily="34" charset="0"/>
              <a:buChar char="•"/>
            </a:pPr>
            <a:r>
              <a:rPr lang="en-US" sz="2400" dirty="0"/>
              <a:t>Survival analysis</a:t>
            </a:r>
          </a:p>
          <a:p>
            <a:pPr marL="342900" lvl="0" indent="-342900">
              <a:buFont typeface="Arial" panose="020B0604020202020204" pitchFamily="34" charset="0"/>
              <a:buChar char="•"/>
            </a:pPr>
            <a:r>
              <a:rPr lang="en-US" sz="2400" dirty="0"/>
              <a:t>Breast cancer subtype classification model</a:t>
            </a:r>
          </a:p>
          <a:p>
            <a:pPr marL="342900" lvl="0" indent="-342900">
              <a:buFont typeface="Arial" panose="020B0604020202020204" pitchFamily="34" charset="0"/>
              <a:buChar char="•"/>
            </a:pPr>
            <a:r>
              <a:rPr lang="en-US" sz="2400" dirty="0"/>
              <a:t>Evaluation Metrics</a:t>
            </a:r>
          </a:p>
          <a:p>
            <a:pPr marL="342900" lvl="0" indent="-342900">
              <a:buFont typeface="Arial" panose="020B0604020202020204" pitchFamily="34" charset="0"/>
              <a:buChar char="•"/>
            </a:pPr>
            <a:r>
              <a:rPr lang="en-US" sz="2400" dirty="0"/>
              <a:t>Results and discussion</a:t>
            </a:r>
          </a:p>
          <a:p>
            <a:pPr marL="342900" lvl="0" indent="-342900">
              <a:buFont typeface="Arial" panose="020B0604020202020204" pitchFamily="34" charset="0"/>
              <a:buChar char="•"/>
            </a:pPr>
            <a:r>
              <a:rPr lang="en-US" sz="2400" dirty="0"/>
              <a:t>Limitations </a:t>
            </a:r>
          </a:p>
          <a:p>
            <a:pPr marL="342900" lvl="0" indent="-342900">
              <a:buFont typeface="Arial" panose="020B0604020202020204" pitchFamily="34" charset="0"/>
              <a:buChar char="•"/>
            </a:pPr>
            <a:r>
              <a:rPr lang="en-US" sz="2400" dirty="0"/>
              <a:t>Conclusion and Future Scope</a:t>
            </a:r>
          </a:p>
          <a:p>
            <a:pPr marL="342900" indent="-342900">
              <a:lnSpc>
                <a:spcPct val="115000"/>
              </a:lnSpc>
              <a:spcAft>
                <a:spcPts val="1800"/>
              </a:spcAft>
              <a:buFont typeface="Arial" panose="020B0604020202020204" pitchFamily="34" charset="0"/>
              <a:buChar char="•"/>
            </a:pPr>
            <a:endParaRPr sz="2200" dirty="0">
              <a:solidFill>
                <a:srgbClr val="102A3C"/>
              </a:solidFill>
              <a:latin typeface="Arial" panose="020B0604020202020204"/>
            </a:endParaRPr>
          </a:p>
        </p:txBody>
      </p:sp>
      <p:sp>
        <p:nvSpPr>
          <p:cNvPr id="9" name="TextBox 8"/>
          <p:cNvSpPr txBox="1"/>
          <p:nvPr/>
        </p:nvSpPr>
        <p:spPr>
          <a:xfrm>
            <a:off x="10332720" y="6382512"/>
            <a:ext cx="1005840" cy="169277"/>
          </a:xfrm>
          <a:prstGeom prst="rect">
            <a:avLst/>
          </a:prstGeom>
          <a:noFill/>
        </p:spPr>
        <p:txBody>
          <a:bodyPr wrap="square" lIns="0" tIns="0" rIns="0" bIns="0" anchor="t">
            <a:spAutoFit/>
          </a:bodyPr>
          <a:lstStyle/>
          <a:p>
            <a:pPr algn="r"/>
            <a:r>
              <a:rPr lang="en-US" sz="1100" b="1" dirty="0">
                <a:solidFill>
                  <a:srgbClr val="566A7B"/>
                </a:solidFill>
                <a:latin typeface="Arial" panose="020B0604020202020204"/>
              </a:rPr>
              <a:t>1</a:t>
            </a:r>
            <a:endParaRPr sz="1100" b="1" dirty="0">
              <a:solidFill>
                <a:srgbClr val="566A7B"/>
              </a:solidFill>
              <a:latin typeface="Arial" panose="020B060402020202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3E63"/>
          </a:solidFill>
          <a:ln>
            <a:noFill/>
          </a:ln>
          <a:effectLst/>
        </p:spPr>
        <p:txBody>
          <a:bodyPr rtlCol="0" anchor="ctr"/>
          <a:lstStyle/>
          <a:p>
            <a:pPr algn="ctr"/>
            <a:endParaRPr/>
          </a:p>
        </p:txBody>
      </p:sp>
      <p:sp>
        <p:nvSpPr>
          <p:cNvPr id="3" name="TextBox 2"/>
          <p:cNvSpPr txBox="1"/>
          <p:nvPr/>
        </p:nvSpPr>
        <p:spPr>
          <a:xfrm>
            <a:off x="822960" y="566928"/>
            <a:ext cx="10515600" cy="492125"/>
          </a:xfrm>
          <a:prstGeom prst="rect">
            <a:avLst/>
          </a:prstGeom>
          <a:noFill/>
        </p:spPr>
        <p:txBody>
          <a:bodyPr wrap="square" lIns="0" tIns="0" rIns="0" bIns="0" anchor="t">
            <a:spAutoFit/>
          </a:bodyPr>
          <a:lstStyle/>
          <a:p>
            <a:r>
              <a:rPr lang="en-US" sz="3200" b="1" u="sng" dirty="0"/>
              <a:t>Introduction </a:t>
            </a:r>
            <a:endParaRPr sz="3200" b="1" u="sng" dirty="0">
              <a:solidFill>
                <a:srgbClr val="003E63"/>
              </a:solidFill>
              <a:latin typeface="Arial" panose="020B0604020202020204"/>
            </a:endParaRPr>
          </a:p>
        </p:txBody>
      </p:sp>
      <p:sp>
        <p:nvSpPr>
          <p:cNvPr id="4" name="Rectangle 3"/>
          <p:cNvSpPr/>
          <p:nvPr/>
        </p:nvSpPr>
        <p:spPr>
          <a:xfrm>
            <a:off x="822960" y="1225296"/>
            <a:ext cx="822960" cy="45720"/>
          </a:xfrm>
          <a:prstGeom prst="rect">
            <a:avLst/>
          </a:prstGeom>
          <a:solidFill>
            <a:srgbClr val="E3AD31"/>
          </a:solidFill>
          <a:ln>
            <a:noFill/>
          </a:ln>
          <a:effectLst/>
        </p:spPr>
        <p:txBody>
          <a:bodyPr rtlCol="0" anchor="ctr"/>
          <a:lstStyle/>
          <a:p>
            <a:pPr algn="ctr"/>
            <a:endParaRPr/>
          </a:p>
        </p:txBody>
      </p:sp>
      <p:sp>
        <p:nvSpPr>
          <p:cNvPr id="8" name="TextBox 7"/>
          <p:cNvSpPr txBox="1"/>
          <p:nvPr/>
        </p:nvSpPr>
        <p:spPr>
          <a:xfrm>
            <a:off x="815586" y="1332770"/>
            <a:ext cx="10332720" cy="3693319"/>
          </a:xfrm>
          <a:prstGeom prst="rect">
            <a:avLst/>
          </a:prstGeom>
          <a:noFill/>
        </p:spPr>
        <p:txBody>
          <a:bodyPr wrap="square" lIns="0" tIns="0" rIns="0" bIns="0">
            <a:spAutoFit/>
          </a:bodyPr>
          <a:lstStyle/>
          <a:p>
            <a:pPr lvl="0"/>
            <a:endParaRPr lang="en-US" sz="2400" b="1" u="sng" dirty="0"/>
          </a:p>
          <a:p>
            <a:pPr marL="342900" lvl="0" indent="-342900">
              <a:buFont typeface="Arial" panose="020B0604020202020204" pitchFamily="34" charset="0"/>
              <a:buChar char="•"/>
            </a:pPr>
            <a:r>
              <a:rPr lang="en-US" sz="2400" dirty="0"/>
              <a:t>Breast cancer is among the most common cancers around the world.</a:t>
            </a:r>
          </a:p>
          <a:p>
            <a:pPr marL="342900" lvl="0" indent="-342900">
              <a:buFont typeface="Arial" panose="020B0604020202020204" pitchFamily="34" charset="0"/>
              <a:buChar char="•"/>
            </a:pPr>
            <a:r>
              <a:rPr lang="en-US" sz="2400" dirty="0"/>
              <a:t>It has various molecular subtypes that differ from each other biologically and clinically.</a:t>
            </a:r>
          </a:p>
          <a:p>
            <a:pPr marL="342900" lvl="0" indent="-342900">
              <a:buFont typeface="Arial" panose="020B0604020202020204" pitchFamily="34" charset="0"/>
              <a:buChar char="•"/>
            </a:pPr>
            <a:r>
              <a:rPr lang="en-US" sz="2400" dirty="0"/>
              <a:t>Information on molecular characteristics of breast cancer is provided by gene expression profiles.</a:t>
            </a:r>
          </a:p>
          <a:p>
            <a:pPr marL="342900" lvl="0" indent="-342900">
              <a:buFont typeface="Arial" panose="020B0604020202020204" pitchFamily="34" charset="0"/>
              <a:buChar char="•"/>
            </a:pPr>
            <a:r>
              <a:rPr lang="en-US" sz="2400" dirty="0"/>
              <a:t>ML and bioinformatics approaches can assist in finding genes that characterize the molecular subtypes of breast cancer.</a:t>
            </a:r>
          </a:p>
          <a:p>
            <a:pPr marL="342900" lvl="0" indent="-342900">
              <a:buFont typeface="Arial" panose="020B0604020202020204" pitchFamily="34" charset="0"/>
              <a:buChar char="•"/>
            </a:pPr>
            <a:r>
              <a:rPr lang="en-US" sz="2400" dirty="0"/>
              <a:t>Survival analysis can be helpful in studying the connection between gene expression profile and patient survival.</a:t>
            </a:r>
          </a:p>
        </p:txBody>
      </p:sp>
      <p:sp>
        <p:nvSpPr>
          <p:cNvPr id="9" name="TextBox 8"/>
          <p:cNvSpPr txBox="1"/>
          <p:nvPr/>
        </p:nvSpPr>
        <p:spPr>
          <a:xfrm>
            <a:off x="10332720" y="6382512"/>
            <a:ext cx="1005840" cy="274320"/>
          </a:xfrm>
          <a:prstGeom prst="rect">
            <a:avLst/>
          </a:prstGeom>
          <a:noFill/>
        </p:spPr>
        <p:txBody>
          <a:bodyPr wrap="square" lIns="0" tIns="0" rIns="0" bIns="0" anchor="t">
            <a:spAutoFit/>
          </a:bodyPr>
          <a:lstStyle/>
          <a:p>
            <a:pPr algn="r"/>
            <a:r>
              <a:rPr sz="1100" b="1">
                <a:solidFill>
                  <a:srgbClr val="566A7B"/>
                </a:solidFill>
                <a:latin typeface="Arial" panose="020B0604020202020204"/>
              </a:rPr>
              <a:t>2</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3E63"/>
          </a:solidFill>
          <a:ln>
            <a:noFill/>
          </a:ln>
          <a:effectLst/>
        </p:spPr>
        <p:txBody>
          <a:bodyPr rtlCol="0" anchor="ctr"/>
          <a:lstStyle/>
          <a:p>
            <a:pPr algn="ctr"/>
            <a:endParaRPr/>
          </a:p>
        </p:txBody>
      </p:sp>
      <p:sp>
        <p:nvSpPr>
          <p:cNvPr id="4" name="Rectangle 3"/>
          <p:cNvSpPr/>
          <p:nvPr/>
        </p:nvSpPr>
        <p:spPr>
          <a:xfrm>
            <a:off x="815586" y="470827"/>
            <a:ext cx="822960" cy="45719"/>
          </a:xfrm>
          <a:prstGeom prst="rect">
            <a:avLst/>
          </a:prstGeom>
          <a:solidFill>
            <a:srgbClr val="E3AD31"/>
          </a:solidFill>
          <a:ln>
            <a:noFill/>
          </a:ln>
          <a:effectLst/>
        </p:spPr>
        <p:txBody>
          <a:bodyPr rtlCol="0" anchor="ctr"/>
          <a:lstStyle/>
          <a:p>
            <a:pPr algn="ctr"/>
            <a:endParaRPr/>
          </a:p>
        </p:txBody>
      </p:sp>
      <p:sp>
        <p:nvSpPr>
          <p:cNvPr id="8" name="TextBox 7"/>
          <p:cNvSpPr txBox="1"/>
          <p:nvPr/>
        </p:nvSpPr>
        <p:spPr>
          <a:xfrm>
            <a:off x="815586" y="624446"/>
            <a:ext cx="10332720" cy="5293757"/>
          </a:xfrm>
          <a:prstGeom prst="rect">
            <a:avLst/>
          </a:prstGeom>
          <a:noFill/>
        </p:spPr>
        <p:txBody>
          <a:bodyPr wrap="square" lIns="0" tIns="0" rIns="0" bIns="0">
            <a:spAutoFit/>
          </a:bodyPr>
          <a:lstStyle/>
          <a:p>
            <a:pPr lvl="0"/>
            <a:r>
              <a:rPr lang="en-US" sz="3200" b="1" u="sng" dirty="0"/>
              <a:t>Motivation</a:t>
            </a:r>
          </a:p>
          <a:p>
            <a:pPr marL="342900" lvl="0" indent="-342900">
              <a:buFont typeface="Arial" panose="020B0604020202020204" pitchFamily="34" charset="0"/>
              <a:buChar char="•"/>
            </a:pPr>
            <a:r>
              <a:rPr lang="en-US" sz="2400" dirty="0"/>
              <a:t>Classification of Subtypes: To find out the possibility of using machine learning algorithms to classify various subtypes of breast cancer molecules.</a:t>
            </a:r>
          </a:p>
          <a:p>
            <a:pPr marL="342900" lvl="0" indent="-342900">
              <a:buFont typeface="Arial" panose="020B0604020202020204" pitchFamily="34" charset="0"/>
              <a:buChar char="•"/>
            </a:pPr>
            <a:r>
              <a:rPr lang="en-US" sz="2400" dirty="0"/>
              <a:t>Gene Identification: To discover significant genes from an extensive pool of gene-related features.</a:t>
            </a:r>
          </a:p>
          <a:p>
            <a:pPr marL="342900" lvl="0" indent="-342900">
              <a:buFont typeface="Arial" panose="020B0604020202020204" pitchFamily="34" charset="0"/>
              <a:buChar char="•"/>
            </a:pPr>
            <a:r>
              <a:rPr lang="en-US" sz="2400" dirty="0"/>
              <a:t>Feature Selection by Consensus: To use multiple selection approaches to find genes that are important consistently.</a:t>
            </a:r>
          </a:p>
          <a:p>
            <a:pPr marL="342900" lvl="0" indent="-342900">
              <a:buFont typeface="Arial" panose="020B0604020202020204" pitchFamily="34" charset="0"/>
              <a:buChar char="•"/>
            </a:pPr>
            <a:r>
              <a:rPr lang="en-US" sz="2400" dirty="0"/>
              <a:t>Survival Analysis: To see if the selected genes give additional information besides the clinical variables in survival analysis.</a:t>
            </a:r>
          </a:p>
          <a:p>
            <a:pPr marL="342900" lvl="0" indent="-342900">
              <a:buFont typeface="Arial" panose="020B0604020202020204" pitchFamily="34" charset="0"/>
              <a:buChar char="•"/>
            </a:pPr>
            <a:r>
              <a:rPr lang="en-US" sz="2400" dirty="0"/>
              <a:t>Reduced Feature Space: To test if a set of selected genes is enough to conduct breast cancer classification with reduced feature space.</a:t>
            </a:r>
          </a:p>
          <a:p>
            <a:pPr marL="342900" lvl="0" indent="-342900">
              <a:buFont typeface="Arial" panose="020B0604020202020204" pitchFamily="34" charset="0"/>
              <a:buChar char="•"/>
            </a:pPr>
            <a:r>
              <a:rPr lang="en-US" sz="2400" dirty="0"/>
              <a:t>Improvement in Research: To see if there is any possibility in the combination of machine learning and bioinformatics techniques with the requirement of independent validation.</a:t>
            </a:r>
          </a:p>
        </p:txBody>
      </p:sp>
      <p:sp>
        <p:nvSpPr>
          <p:cNvPr id="9" name="TextBox 8"/>
          <p:cNvSpPr txBox="1"/>
          <p:nvPr/>
        </p:nvSpPr>
        <p:spPr>
          <a:xfrm>
            <a:off x="10332720" y="6382512"/>
            <a:ext cx="1005840" cy="169277"/>
          </a:xfrm>
          <a:prstGeom prst="rect">
            <a:avLst/>
          </a:prstGeom>
          <a:noFill/>
        </p:spPr>
        <p:txBody>
          <a:bodyPr wrap="square" lIns="0" tIns="0" rIns="0" bIns="0" anchor="t">
            <a:spAutoFit/>
          </a:bodyPr>
          <a:lstStyle/>
          <a:p>
            <a:pPr algn="r"/>
            <a:r>
              <a:rPr lang="en-US" sz="1100" b="1" dirty="0">
                <a:solidFill>
                  <a:srgbClr val="566A7B"/>
                </a:solidFill>
                <a:latin typeface="Arial" panose="020B0604020202020204"/>
              </a:rPr>
              <a:t>3</a:t>
            </a:r>
            <a:endParaRPr sz="1100" b="1" dirty="0">
              <a:solidFill>
                <a:srgbClr val="566A7B"/>
              </a:solidFill>
              <a:latin typeface="Arial" panose="020B060402020202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3E63"/>
          </a:solidFill>
          <a:ln>
            <a:noFill/>
          </a:ln>
          <a:effectLst/>
        </p:spPr>
        <p:txBody>
          <a:bodyPr rtlCol="0" anchor="ctr"/>
          <a:lstStyle/>
          <a:p>
            <a:pPr algn="ctr"/>
            <a:endParaRPr/>
          </a:p>
        </p:txBody>
      </p:sp>
      <p:sp>
        <p:nvSpPr>
          <p:cNvPr id="3" name="TextBox 2"/>
          <p:cNvSpPr txBox="1"/>
          <p:nvPr/>
        </p:nvSpPr>
        <p:spPr>
          <a:xfrm>
            <a:off x="822960" y="566928"/>
            <a:ext cx="10515600" cy="184666"/>
          </a:xfrm>
          <a:prstGeom prst="rect">
            <a:avLst/>
          </a:prstGeom>
          <a:noFill/>
        </p:spPr>
        <p:txBody>
          <a:bodyPr wrap="square" lIns="0" tIns="0" rIns="0" bIns="0" anchor="t">
            <a:spAutoFit/>
          </a:bodyPr>
          <a:lstStyle/>
          <a:p>
            <a:pPr algn="l"/>
            <a:endParaRPr sz="1200" b="1" dirty="0">
              <a:solidFill>
                <a:srgbClr val="E3AD31"/>
              </a:solidFill>
              <a:latin typeface="Arial" panose="020B0604020202020204"/>
            </a:endParaRPr>
          </a:p>
        </p:txBody>
      </p:sp>
      <p:sp>
        <p:nvSpPr>
          <p:cNvPr id="4" name="TextBox 3"/>
          <p:cNvSpPr txBox="1"/>
          <p:nvPr/>
        </p:nvSpPr>
        <p:spPr>
          <a:xfrm>
            <a:off x="822960" y="416554"/>
            <a:ext cx="10515600" cy="492443"/>
          </a:xfrm>
          <a:prstGeom prst="rect">
            <a:avLst/>
          </a:prstGeom>
          <a:noFill/>
        </p:spPr>
        <p:txBody>
          <a:bodyPr wrap="square" lIns="0" tIns="0" rIns="0" bIns="0" anchor="t">
            <a:spAutoFit/>
          </a:bodyPr>
          <a:lstStyle/>
          <a:p>
            <a:pPr algn="l"/>
            <a:r>
              <a:rPr lang="en-US" sz="3200" b="1" u="sng" dirty="0">
                <a:latin typeface="+mj-lt"/>
              </a:rPr>
              <a:t>Problem Statement</a:t>
            </a:r>
            <a:endParaRPr sz="3200" b="1" u="sng" dirty="0">
              <a:latin typeface="+mj-lt"/>
            </a:endParaRPr>
          </a:p>
        </p:txBody>
      </p:sp>
      <p:sp>
        <p:nvSpPr>
          <p:cNvPr id="5" name="Rectangle 4"/>
          <p:cNvSpPr/>
          <p:nvPr/>
        </p:nvSpPr>
        <p:spPr>
          <a:xfrm>
            <a:off x="822960" y="1016897"/>
            <a:ext cx="822960" cy="45720"/>
          </a:xfrm>
          <a:prstGeom prst="rect">
            <a:avLst/>
          </a:prstGeom>
          <a:solidFill>
            <a:srgbClr val="E3AD31"/>
          </a:solidFill>
          <a:ln>
            <a:noFill/>
          </a:ln>
          <a:effectLst/>
        </p:spPr>
        <p:txBody>
          <a:bodyPr rtlCol="0" anchor="ctr"/>
          <a:lstStyle/>
          <a:p>
            <a:pPr algn="ctr"/>
            <a:endParaRPr/>
          </a:p>
        </p:txBody>
      </p:sp>
      <p:sp>
        <p:nvSpPr>
          <p:cNvPr id="8" name="TextBox 7"/>
          <p:cNvSpPr txBox="1"/>
          <p:nvPr/>
        </p:nvSpPr>
        <p:spPr>
          <a:xfrm>
            <a:off x="822960" y="6382512"/>
            <a:ext cx="7315200" cy="169277"/>
          </a:xfrm>
          <a:prstGeom prst="rect">
            <a:avLst/>
          </a:prstGeom>
          <a:noFill/>
        </p:spPr>
        <p:txBody>
          <a:bodyPr wrap="square" lIns="0" tIns="0" rIns="0" bIns="0" anchor="t">
            <a:spAutoFit/>
          </a:bodyPr>
          <a:lstStyle/>
          <a:p>
            <a:pPr algn="l"/>
            <a:endParaRPr sz="1100" b="0" dirty="0">
              <a:solidFill>
                <a:srgbClr val="566A7B"/>
              </a:solidFill>
              <a:latin typeface="Arial" panose="020B0604020202020204"/>
            </a:endParaRPr>
          </a:p>
        </p:txBody>
      </p:sp>
      <p:sp>
        <p:nvSpPr>
          <p:cNvPr id="9" name="TextBox 8"/>
          <p:cNvSpPr txBox="1"/>
          <p:nvPr/>
        </p:nvSpPr>
        <p:spPr>
          <a:xfrm>
            <a:off x="822960" y="1293772"/>
            <a:ext cx="10332720" cy="4478855"/>
          </a:xfrm>
          <a:prstGeom prst="rect">
            <a:avLst/>
          </a:prstGeom>
          <a:noFill/>
        </p:spPr>
        <p:txBody>
          <a:bodyPr wrap="square" lIns="0" tIns="0" rIns="0" bIns="0">
            <a:spAutoFit/>
          </a:bodyPr>
          <a:lstStyle/>
          <a:p>
            <a:pPr>
              <a:lnSpc>
                <a:spcPct val="115000"/>
              </a:lnSpc>
              <a:spcAft>
                <a:spcPts val="2000"/>
              </a:spcAft>
            </a:pPr>
            <a:r>
              <a:rPr lang="en-US" sz="2400" dirty="0">
                <a:solidFill>
                  <a:srgbClr val="102A3C"/>
                </a:solidFill>
              </a:rPr>
              <a:t>Clinical information including a patient’s age, tumor size and cancer stages could be used to predict patient outcomes in breast cancer. Nevertheless, this clinical information alone might not be sufficient since there are instances where two patients having identical clinical characteristics might experience different outcomes due to variations in gene expression within their tumor cells.</a:t>
            </a:r>
          </a:p>
          <a:p>
            <a:pPr>
              <a:lnSpc>
                <a:spcPct val="115000"/>
              </a:lnSpc>
              <a:spcAft>
                <a:spcPts val="2000"/>
              </a:spcAft>
            </a:pPr>
            <a:r>
              <a:rPr lang="en-US" sz="2400" dirty="0">
                <a:solidFill>
                  <a:srgbClr val="102A3C"/>
                </a:solidFill>
              </a:rPr>
              <a:t>Thus, the purpose of this project is to determine whether the addition of genomic information to clinical information increases the ability to predict patient outcomes in breast cancer. In this study, important genes that contribute to classifying patients with breast cancer will be identified and the association between these genes and patient survival will be determined.</a:t>
            </a:r>
            <a:endParaRPr sz="2400" dirty="0">
              <a:solidFill>
                <a:srgbClr val="102A3C"/>
              </a:solidFill>
            </a:endParaRPr>
          </a:p>
        </p:txBody>
      </p:sp>
      <p:sp>
        <p:nvSpPr>
          <p:cNvPr id="10" name="TextBox 9"/>
          <p:cNvSpPr txBox="1"/>
          <p:nvPr/>
        </p:nvSpPr>
        <p:spPr>
          <a:xfrm>
            <a:off x="10343111" y="6382512"/>
            <a:ext cx="1005840" cy="169277"/>
          </a:xfrm>
          <a:prstGeom prst="rect">
            <a:avLst/>
          </a:prstGeom>
          <a:noFill/>
        </p:spPr>
        <p:txBody>
          <a:bodyPr wrap="square" lIns="0" tIns="0" rIns="0" bIns="0" anchor="t">
            <a:spAutoFit/>
          </a:bodyPr>
          <a:lstStyle/>
          <a:p>
            <a:pPr algn="r"/>
            <a:r>
              <a:rPr lang="en-US" sz="1100" b="1" dirty="0">
                <a:solidFill>
                  <a:srgbClr val="566A7B"/>
                </a:solidFill>
                <a:latin typeface="Arial" panose="020B0604020202020204"/>
              </a:rPr>
              <a:t>4</a:t>
            </a:r>
            <a:endParaRPr sz="1100" b="1" dirty="0">
              <a:solidFill>
                <a:srgbClr val="566A7B"/>
              </a:solidFill>
              <a:latin typeface="Arial" panose="020B060402020202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3E63"/>
          </a:solidFill>
          <a:ln>
            <a:noFill/>
          </a:ln>
          <a:effectLst/>
        </p:spPr>
        <p:txBody>
          <a:bodyPr rtlCol="0" anchor="ctr"/>
          <a:lstStyle/>
          <a:p>
            <a:pPr algn="ctr"/>
            <a:endParaRPr/>
          </a:p>
        </p:txBody>
      </p:sp>
      <p:sp>
        <p:nvSpPr>
          <p:cNvPr id="3" name="TextBox 2"/>
          <p:cNvSpPr txBox="1"/>
          <p:nvPr/>
        </p:nvSpPr>
        <p:spPr>
          <a:xfrm>
            <a:off x="822960" y="566928"/>
            <a:ext cx="10515600" cy="184666"/>
          </a:xfrm>
          <a:prstGeom prst="rect">
            <a:avLst/>
          </a:prstGeom>
          <a:noFill/>
        </p:spPr>
        <p:txBody>
          <a:bodyPr wrap="square" lIns="0" tIns="0" rIns="0" bIns="0" anchor="t">
            <a:spAutoFit/>
          </a:bodyPr>
          <a:lstStyle/>
          <a:p>
            <a:pPr algn="l"/>
            <a:endParaRPr sz="1200" b="1" dirty="0">
              <a:solidFill>
                <a:srgbClr val="E3AD31"/>
              </a:solidFill>
              <a:latin typeface="Arial" panose="020B0604020202020204"/>
            </a:endParaRPr>
          </a:p>
        </p:txBody>
      </p:sp>
      <p:sp>
        <p:nvSpPr>
          <p:cNvPr id="4" name="TextBox 3"/>
          <p:cNvSpPr txBox="1"/>
          <p:nvPr/>
        </p:nvSpPr>
        <p:spPr>
          <a:xfrm>
            <a:off x="777240" y="481056"/>
            <a:ext cx="10515600" cy="492443"/>
          </a:xfrm>
          <a:prstGeom prst="rect">
            <a:avLst/>
          </a:prstGeom>
          <a:noFill/>
        </p:spPr>
        <p:txBody>
          <a:bodyPr wrap="square" lIns="0" tIns="0" rIns="0" bIns="0" anchor="t">
            <a:spAutoFit/>
          </a:bodyPr>
          <a:lstStyle/>
          <a:p>
            <a:pPr algn="l"/>
            <a:r>
              <a:rPr lang="en-US" sz="3200" b="1" u="sng" dirty="0">
                <a:latin typeface="+mj-lt"/>
              </a:rPr>
              <a:t>Project Contributions</a:t>
            </a:r>
            <a:endParaRPr sz="3200" b="1" u="sng" dirty="0">
              <a:latin typeface="+mj-lt"/>
            </a:endParaRPr>
          </a:p>
        </p:txBody>
      </p:sp>
      <p:sp>
        <p:nvSpPr>
          <p:cNvPr id="5" name="Rectangle 4"/>
          <p:cNvSpPr/>
          <p:nvPr/>
        </p:nvSpPr>
        <p:spPr>
          <a:xfrm>
            <a:off x="806335" y="1095891"/>
            <a:ext cx="822960" cy="45720"/>
          </a:xfrm>
          <a:prstGeom prst="rect">
            <a:avLst/>
          </a:prstGeom>
          <a:solidFill>
            <a:srgbClr val="E3AD31"/>
          </a:solidFill>
          <a:ln>
            <a:noFill/>
          </a:ln>
          <a:effectLst/>
        </p:spPr>
        <p:txBody>
          <a:bodyPr rtlCol="0" anchor="ctr"/>
          <a:lstStyle/>
          <a:p>
            <a:pPr algn="ctr"/>
            <a:endParaRPr/>
          </a:p>
        </p:txBody>
      </p:sp>
      <p:sp>
        <p:nvSpPr>
          <p:cNvPr id="9" name="TextBox 8"/>
          <p:cNvSpPr txBox="1"/>
          <p:nvPr/>
        </p:nvSpPr>
        <p:spPr>
          <a:xfrm>
            <a:off x="868680" y="1386924"/>
            <a:ext cx="10332720" cy="4959985"/>
          </a:xfrm>
          <a:prstGeom prst="rect">
            <a:avLst/>
          </a:prstGeom>
          <a:noFill/>
        </p:spPr>
        <p:txBody>
          <a:bodyPr wrap="square" lIns="0" tIns="0" rIns="0" bIns="0">
            <a:spAutoFit/>
          </a:bodyPr>
          <a:lstStyle/>
          <a:p>
            <a:pPr marL="342900" indent="-342900">
              <a:spcAft>
                <a:spcPts val="1400"/>
              </a:spcAft>
              <a:buFont typeface="Arial" panose="020B0604020202020204" pitchFamily="34" charset="0"/>
              <a:buChar char="•"/>
            </a:pPr>
            <a:r>
              <a:rPr lang="en-US" sz="2400" dirty="0"/>
              <a:t>Consensus-based feature selection: Uses ten different techniques instead of focusing on one importance metric.</a:t>
            </a:r>
          </a:p>
          <a:p>
            <a:pPr marL="342900" indent="-342900">
              <a:spcAft>
                <a:spcPts val="1400"/>
              </a:spcAft>
              <a:buFont typeface="Arial" panose="020B0604020202020204" pitchFamily="34" charset="0"/>
              <a:buChar char="•"/>
            </a:pPr>
            <a:r>
              <a:rPr lang="en-US" sz="2400" dirty="0"/>
              <a:t>Selection of candidate genes: Chooses EGFR, CDK1, GATA3, ERBB2 and ERBB3 for further analysis.</a:t>
            </a:r>
          </a:p>
          <a:p>
            <a:pPr marL="342900" indent="-342900">
              <a:spcAft>
                <a:spcPts val="1400"/>
              </a:spcAft>
              <a:buFont typeface="Arial" panose="020B0604020202020204" pitchFamily="34" charset="0"/>
              <a:buChar char="•"/>
            </a:pPr>
            <a:r>
              <a:rPr lang="en-US" sz="2400" dirty="0"/>
              <a:t>Subtype classification: Investigates machine learning performance on seven labels for the subtypes.</a:t>
            </a:r>
          </a:p>
          <a:p>
            <a:pPr marL="342900" indent="-342900">
              <a:spcAft>
                <a:spcPts val="1400"/>
              </a:spcAft>
              <a:buFont typeface="Arial" panose="020B0604020202020204" pitchFamily="34" charset="0"/>
              <a:buChar char="•"/>
            </a:pPr>
            <a:r>
              <a:rPr lang="en-US" sz="2400" dirty="0"/>
              <a:t>Comparison of models: Investigates model performance when using 490 features vs. only the five selected genes.</a:t>
            </a:r>
          </a:p>
          <a:p>
            <a:pPr marL="342900" indent="-342900">
              <a:spcAft>
                <a:spcPts val="1400"/>
              </a:spcAft>
              <a:buFont typeface="Arial" panose="020B0604020202020204" pitchFamily="34" charset="0"/>
              <a:buChar char="•"/>
            </a:pPr>
            <a:r>
              <a:rPr lang="en-US" sz="2400" dirty="0"/>
              <a:t>Exploratory survival analysis: Employs Kaplan-Meier plots, Cox proportional-hazards model and the c-index.</a:t>
            </a:r>
          </a:p>
          <a:p>
            <a:pPr marL="342900" indent="-342900">
              <a:spcAft>
                <a:spcPts val="1400"/>
              </a:spcAft>
              <a:buFont typeface="Arial" panose="020B0604020202020204" pitchFamily="34" charset="0"/>
              <a:buChar char="•"/>
            </a:pPr>
            <a:r>
              <a:rPr lang="en-US" sz="2400" dirty="0"/>
              <a:t>Interpretability: Has a smaller number of features to be analyzed.</a:t>
            </a:r>
          </a:p>
        </p:txBody>
      </p:sp>
      <p:sp>
        <p:nvSpPr>
          <p:cNvPr id="10" name="TextBox 9"/>
          <p:cNvSpPr txBox="1"/>
          <p:nvPr/>
        </p:nvSpPr>
        <p:spPr>
          <a:xfrm>
            <a:off x="10332720" y="6382512"/>
            <a:ext cx="1005840" cy="169277"/>
          </a:xfrm>
          <a:prstGeom prst="rect">
            <a:avLst/>
          </a:prstGeom>
          <a:noFill/>
        </p:spPr>
        <p:txBody>
          <a:bodyPr wrap="square" lIns="0" tIns="0" rIns="0" bIns="0" anchor="t">
            <a:spAutoFit/>
          </a:bodyPr>
          <a:lstStyle/>
          <a:p>
            <a:pPr algn="r"/>
            <a:r>
              <a:rPr lang="en-US" sz="1100" b="1" dirty="0">
                <a:solidFill>
                  <a:srgbClr val="566A7B"/>
                </a:solidFill>
                <a:latin typeface="Arial" panose="020B0604020202020204"/>
              </a:rPr>
              <a:t>5</a:t>
            </a:r>
            <a:endParaRPr sz="1100" b="1" dirty="0">
              <a:solidFill>
                <a:srgbClr val="566A7B"/>
              </a:solidFill>
              <a:latin typeface="Arial" panose="020B060402020202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3E63"/>
          </a:solidFill>
          <a:ln>
            <a:noFill/>
          </a:ln>
          <a:effectLst/>
        </p:spPr>
        <p:txBody>
          <a:bodyPr rtlCol="0" anchor="ctr"/>
          <a:lstStyle/>
          <a:p>
            <a:pPr algn="ctr"/>
            <a:endParaRPr/>
          </a:p>
        </p:txBody>
      </p:sp>
      <p:sp>
        <p:nvSpPr>
          <p:cNvPr id="3" name="TextBox 2"/>
          <p:cNvSpPr txBox="1"/>
          <p:nvPr/>
        </p:nvSpPr>
        <p:spPr>
          <a:xfrm>
            <a:off x="822960" y="1275080"/>
            <a:ext cx="6234430" cy="5231765"/>
          </a:xfrm>
          <a:prstGeom prst="rect">
            <a:avLst/>
          </a:prstGeom>
          <a:noFill/>
        </p:spPr>
        <p:txBody>
          <a:bodyPr wrap="square" lIns="0" tIns="0" rIns="0" bIns="0" anchor="t">
            <a:spAutoFit/>
          </a:bodyPr>
          <a:lstStyle/>
          <a:p>
            <a:r>
              <a:rPr lang="en-US" sz="2800" b="1" u="sng" dirty="0"/>
              <a:t>Dataset Overview</a:t>
            </a:r>
          </a:p>
          <a:p>
            <a:endParaRPr lang="en-US" sz="2400" b="1" u="sng" dirty="0"/>
          </a:p>
          <a:p>
            <a:r>
              <a:rPr lang="en-US" sz="2400" dirty="0"/>
              <a:t>The project uses the METABRIC RNA Mutation.csv dataset reported in the notebook.</a:t>
            </a:r>
          </a:p>
          <a:p>
            <a:pPr marL="171450" indent="-171450">
              <a:buFont typeface="Arial" panose="020B0604020202020204" pitchFamily="34" charset="0"/>
              <a:buChar char="•"/>
            </a:pPr>
            <a:r>
              <a:rPr lang="en-US" sz="2400" dirty="0"/>
              <a:t>Each row indicates one medical file for patients.</a:t>
            </a:r>
          </a:p>
          <a:p>
            <a:pPr marL="171450" indent="-171450">
              <a:buFont typeface="Arial" panose="020B0604020202020204" pitchFamily="34" charset="0"/>
              <a:buChar char="•"/>
            </a:pPr>
            <a:r>
              <a:rPr lang="en-US" sz="2400" dirty="0"/>
              <a:t>The columns hold various attributes including genomics, clinical, and outcome details.</a:t>
            </a:r>
          </a:p>
          <a:p>
            <a:pPr marL="171450" indent="-171450">
              <a:buFont typeface="Arial" panose="020B0604020202020204" pitchFamily="34" charset="0"/>
              <a:buChar char="•"/>
            </a:pPr>
            <a:r>
              <a:rPr lang="en-US" sz="2400" dirty="0"/>
              <a:t>In the current study, the target subtype is first isolated from the candidate attributes prior to classification. </a:t>
            </a:r>
          </a:p>
          <a:p>
            <a:pPr marL="171450" indent="-171450">
              <a:buFont typeface="Arial" panose="020B0604020202020204" pitchFamily="34" charset="0"/>
              <a:buChar char="•"/>
            </a:pPr>
            <a:r>
              <a:rPr lang="en-US" sz="2400" dirty="0"/>
              <a:t>The dataset is split into two parts: training and testing datasets in order to validate the performance of the model.</a:t>
            </a:r>
          </a:p>
          <a:p>
            <a:endParaRPr sz="2400" b="1" dirty="0">
              <a:solidFill>
                <a:srgbClr val="E3AD31"/>
              </a:solidFill>
              <a:latin typeface="Arial" panose="020B0604020202020204"/>
            </a:endParaRPr>
          </a:p>
        </p:txBody>
      </p:sp>
      <p:sp>
        <p:nvSpPr>
          <p:cNvPr id="4" name="TextBox 3"/>
          <p:cNvSpPr txBox="1"/>
          <p:nvPr/>
        </p:nvSpPr>
        <p:spPr>
          <a:xfrm>
            <a:off x="822959" y="357948"/>
            <a:ext cx="10515600" cy="492443"/>
          </a:xfrm>
          <a:prstGeom prst="rect">
            <a:avLst/>
          </a:prstGeom>
          <a:noFill/>
        </p:spPr>
        <p:txBody>
          <a:bodyPr wrap="square" lIns="0" tIns="0" rIns="0" bIns="0" anchor="t">
            <a:spAutoFit/>
          </a:bodyPr>
          <a:lstStyle/>
          <a:p>
            <a:pPr algn="l"/>
            <a:r>
              <a:rPr lang="en-US" sz="3200" b="1" u="sng" dirty="0">
                <a:latin typeface="+mj-lt"/>
              </a:rPr>
              <a:t>Dataset Description</a:t>
            </a:r>
            <a:endParaRPr sz="3200" b="1" u="sng" dirty="0">
              <a:latin typeface="+mj-lt"/>
            </a:endParaRPr>
          </a:p>
        </p:txBody>
      </p:sp>
      <p:sp>
        <p:nvSpPr>
          <p:cNvPr id="5" name="Rectangle 4"/>
          <p:cNvSpPr/>
          <p:nvPr/>
        </p:nvSpPr>
        <p:spPr>
          <a:xfrm>
            <a:off x="831273" y="1016315"/>
            <a:ext cx="822960" cy="45720"/>
          </a:xfrm>
          <a:prstGeom prst="rect">
            <a:avLst/>
          </a:prstGeom>
          <a:solidFill>
            <a:srgbClr val="E3AD31"/>
          </a:solidFill>
          <a:ln>
            <a:noFill/>
          </a:ln>
          <a:effectLst/>
        </p:spPr>
        <p:txBody>
          <a:bodyPr rtlCol="0" anchor="ctr"/>
          <a:lstStyle/>
          <a:p>
            <a:pPr algn="ctr"/>
            <a:endParaRPr/>
          </a:p>
        </p:txBody>
      </p:sp>
      <p:sp>
        <p:nvSpPr>
          <p:cNvPr id="11" name="TextBox 10"/>
          <p:cNvSpPr txBox="1"/>
          <p:nvPr/>
        </p:nvSpPr>
        <p:spPr>
          <a:xfrm>
            <a:off x="10332720" y="6382512"/>
            <a:ext cx="1005840" cy="169277"/>
          </a:xfrm>
          <a:prstGeom prst="rect">
            <a:avLst/>
          </a:prstGeom>
          <a:noFill/>
        </p:spPr>
        <p:txBody>
          <a:bodyPr wrap="square" lIns="0" tIns="0" rIns="0" bIns="0" anchor="t">
            <a:spAutoFit/>
          </a:bodyPr>
          <a:lstStyle/>
          <a:p>
            <a:pPr algn="r"/>
            <a:r>
              <a:rPr lang="en-US" sz="1100" b="1" dirty="0">
                <a:solidFill>
                  <a:srgbClr val="566A7B"/>
                </a:solidFill>
                <a:latin typeface="Arial" panose="020B0604020202020204"/>
              </a:rPr>
              <a:t>6</a:t>
            </a:r>
            <a:endParaRPr sz="1100" b="1" dirty="0">
              <a:solidFill>
                <a:srgbClr val="566A7B"/>
              </a:solidFill>
              <a:latin typeface="Arial" panose="020B0604020202020204"/>
            </a:endParaRPr>
          </a:p>
        </p:txBody>
      </p:sp>
      <p:sp>
        <p:nvSpPr>
          <p:cNvPr id="22" name="Title 21"/>
          <p:cNvSpPr>
            <a:spLocks noGrp="1"/>
          </p:cNvSpPr>
          <p:nvPr>
            <p:ph type="title"/>
          </p:nvPr>
        </p:nvSpPr>
        <p:spPr>
          <a:xfrm>
            <a:off x="7859253" y="4260147"/>
            <a:ext cx="3306587" cy="418663"/>
          </a:xfrm>
        </p:spPr>
        <p:txBody>
          <a:bodyPr>
            <a:normAutofit/>
          </a:bodyPr>
          <a:lstStyle/>
          <a:p>
            <a:r>
              <a:rPr lang="en-US" sz="1000" dirty="0"/>
              <a:t> DATASET  OVERVIEW FOR BREAST CANCER ANALYSIS</a:t>
            </a:r>
          </a:p>
        </p:txBody>
      </p:sp>
      <p:pic>
        <p:nvPicPr>
          <p:cNvPr id="8" name="Picture 7"/>
          <p:cNvPicPr>
            <a:picLocks noChangeAspect="1"/>
          </p:cNvPicPr>
          <p:nvPr/>
        </p:nvPicPr>
        <p:blipFill>
          <a:blip r:embed="rId3"/>
          <a:stretch>
            <a:fillRect/>
          </a:stretch>
        </p:blipFill>
        <p:spPr>
          <a:xfrm>
            <a:off x="7258228" y="2283627"/>
            <a:ext cx="4508635" cy="186862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3E63"/>
          </a:solidFill>
          <a:ln>
            <a:noFill/>
          </a:ln>
          <a:effectLst/>
        </p:spPr>
        <p:txBody>
          <a:bodyPr rtlCol="0" anchor="ctr"/>
          <a:lstStyle/>
          <a:p>
            <a:pPr algn="ctr"/>
            <a:endParaRPr/>
          </a:p>
        </p:txBody>
      </p:sp>
      <p:sp>
        <p:nvSpPr>
          <p:cNvPr id="5" name="Rectangle 4"/>
          <p:cNvSpPr/>
          <p:nvPr/>
        </p:nvSpPr>
        <p:spPr>
          <a:xfrm>
            <a:off x="453923" y="774018"/>
            <a:ext cx="822960" cy="45720"/>
          </a:xfrm>
          <a:prstGeom prst="rect">
            <a:avLst/>
          </a:prstGeom>
          <a:solidFill>
            <a:srgbClr val="E3AD31"/>
          </a:solidFill>
          <a:ln>
            <a:noFill/>
          </a:ln>
          <a:effectLst/>
        </p:spPr>
        <p:txBody>
          <a:bodyPr rtlCol="0" anchor="ctr"/>
          <a:lstStyle/>
          <a:p>
            <a:pPr algn="ctr"/>
            <a:endParaRPr/>
          </a:p>
        </p:txBody>
      </p:sp>
      <p:sp>
        <p:nvSpPr>
          <p:cNvPr id="10" name="TextBox 9"/>
          <p:cNvSpPr txBox="1"/>
          <p:nvPr/>
        </p:nvSpPr>
        <p:spPr>
          <a:xfrm>
            <a:off x="447040" y="879704"/>
            <a:ext cx="4744720" cy="5570756"/>
          </a:xfrm>
          <a:prstGeom prst="rect">
            <a:avLst/>
          </a:prstGeom>
          <a:noFill/>
        </p:spPr>
        <p:txBody>
          <a:bodyPr wrap="square" lIns="0" tIns="0" rIns="0" bIns="0" anchor="t">
            <a:spAutoFit/>
          </a:bodyPr>
          <a:lstStyle/>
          <a:p>
            <a:r>
              <a:rPr lang="en-US" sz="3200" b="1" u="sng" dirty="0">
                <a:latin typeface="+mj-lt"/>
              </a:rPr>
              <a:t>Subtype Distribution</a:t>
            </a:r>
          </a:p>
          <a:p>
            <a:endParaRPr lang="en-US" sz="1800" b="1" dirty="0">
              <a:solidFill>
                <a:srgbClr val="566A7B"/>
              </a:solidFill>
              <a:latin typeface="Arial" panose="020B0604020202020204"/>
            </a:endParaRPr>
          </a:p>
          <a:p>
            <a:r>
              <a:rPr lang="en-US" sz="2400" dirty="0"/>
              <a:t>The classification target is called pam50 + claudin-low subtype. It contains seven observed labels.</a:t>
            </a:r>
          </a:p>
          <a:p>
            <a:pPr marL="285750" indent="-285750">
              <a:buFont typeface="Arial" panose="020B0604020202020204" pitchFamily="34" charset="0"/>
              <a:buChar char="•"/>
            </a:pPr>
            <a:r>
              <a:rPr lang="en-US" sz="2400" dirty="0"/>
              <a:t>LumA is the biggest class in the dataset. </a:t>
            </a:r>
          </a:p>
          <a:p>
            <a:pPr marL="285750" indent="-285750">
              <a:buFont typeface="Arial" panose="020B0604020202020204" pitchFamily="34" charset="0"/>
              <a:buChar char="•"/>
            </a:pPr>
            <a:r>
              <a:rPr lang="en-US" sz="2400" dirty="0"/>
              <a:t>NC is the smallest class because it only has six entries.</a:t>
            </a:r>
          </a:p>
          <a:p>
            <a:pPr marL="285750" indent="-285750">
              <a:buFont typeface="Arial" panose="020B0604020202020204" pitchFamily="34" charset="0"/>
              <a:buChar char="•"/>
            </a:pPr>
            <a:r>
              <a:rPr lang="en-US" sz="2400" dirty="0"/>
              <a:t>This inequality in class sizes leads to a class imbalance problem.</a:t>
            </a:r>
          </a:p>
          <a:p>
            <a:pPr marL="285750" indent="-285750">
              <a:buFont typeface="Arial" panose="020B0604020202020204" pitchFamily="34" charset="0"/>
              <a:buChar char="•"/>
            </a:pPr>
            <a:r>
              <a:rPr lang="en-US" sz="2400" dirty="0"/>
              <a:t>A model can work efficiently with big classes but fail with small classes</a:t>
            </a:r>
            <a:r>
              <a:rPr lang="en-US" sz="2400" dirty="0">
                <a:solidFill>
                  <a:srgbClr val="566A7B"/>
                </a:solidFill>
              </a:rPr>
              <a:t>.</a:t>
            </a:r>
          </a:p>
          <a:p>
            <a:endParaRPr lang="en-US" sz="2400" b="1" dirty="0">
              <a:solidFill>
                <a:srgbClr val="566A7B"/>
              </a:solidFill>
              <a:latin typeface="Arial" panose="020B0604020202020204"/>
            </a:endParaRPr>
          </a:p>
        </p:txBody>
      </p:sp>
      <p:sp>
        <p:nvSpPr>
          <p:cNvPr id="12" name="TextBox 11"/>
          <p:cNvSpPr txBox="1"/>
          <p:nvPr/>
        </p:nvSpPr>
        <p:spPr>
          <a:xfrm>
            <a:off x="10332720" y="6382512"/>
            <a:ext cx="1005840" cy="169277"/>
          </a:xfrm>
          <a:prstGeom prst="rect">
            <a:avLst/>
          </a:prstGeom>
          <a:noFill/>
        </p:spPr>
        <p:txBody>
          <a:bodyPr wrap="square" lIns="0" tIns="0" rIns="0" bIns="0" anchor="t">
            <a:spAutoFit/>
          </a:bodyPr>
          <a:lstStyle/>
          <a:p>
            <a:pPr algn="r"/>
            <a:r>
              <a:rPr lang="en-US" sz="1100" b="1" dirty="0">
                <a:solidFill>
                  <a:srgbClr val="566A7B"/>
                </a:solidFill>
                <a:latin typeface="Arial" panose="020B0604020202020204"/>
              </a:rPr>
              <a:t>7</a:t>
            </a:r>
            <a:endParaRPr sz="1100" b="1" dirty="0">
              <a:solidFill>
                <a:srgbClr val="566A7B"/>
              </a:solidFill>
              <a:latin typeface="Arial" panose="020B0604020202020204"/>
            </a:endParaRPr>
          </a:p>
        </p:txBody>
      </p:sp>
      <p:sp>
        <p:nvSpPr>
          <p:cNvPr id="15" name="Title 14"/>
          <p:cNvSpPr>
            <a:spLocks noGrp="1"/>
          </p:cNvSpPr>
          <p:nvPr>
            <p:ph type="title"/>
          </p:nvPr>
        </p:nvSpPr>
        <p:spPr>
          <a:xfrm>
            <a:off x="6400800" y="5530240"/>
            <a:ext cx="4561840" cy="700484"/>
          </a:xfrm>
        </p:spPr>
        <p:txBody>
          <a:bodyPr>
            <a:normAutofit/>
          </a:bodyPr>
          <a:lstStyle/>
          <a:p>
            <a:r>
              <a:rPr lang="en-US" sz="1000" dirty="0"/>
              <a:t>Distribution of seven molecular subtype classes in the breast cancer dataset</a:t>
            </a:r>
          </a:p>
        </p:txBody>
      </p:sp>
      <p:pic>
        <p:nvPicPr>
          <p:cNvPr id="16" name="Picture 15"/>
          <p:cNvPicPr>
            <a:picLocks noChangeAspect="1"/>
          </p:cNvPicPr>
          <p:nvPr/>
        </p:nvPicPr>
        <p:blipFill>
          <a:blip r:embed="rId3"/>
          <a:stretch>
            <a:fillRect/>
          </a:stretch>
        </p:blipFill>
        <p:spPr>
          <a:xfrm>
            <a:off x="5191760" y="1683723"/>
            <a:ext cx="6858462" cy="39175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3E63"/>
          </a:solidFill>
          <a:ln>
            <a:noFill/>
          </a:ln>
          <a:effectLst/>
        </p:spPr>
        <p:txBody>
          <a:bodyPr rtlCol="0" anchor="ctr"/>
          <a:lstStyle/>
          <a:p>
            <a:pPr algn="ctr"/>
            <a:endParaRPr/>
          </a:p>
        </p:txBody>
      </p:sp>
      <p:sp>
        <p:nvSpPr>
          <p:cNvPr id="5" name="Rectangle 4"/>
          <p:cNvSpPr/>
          <p:nvPr/>
        </p:nvSpPr>
        <p:spPr>
          <a:xfrm>
            <a:off x="749531" y="907774"/>
            <a:ext cx="822960" cy="45720"/>
          </a:xfrm>
          <a:prstGeom prst="rect">
            <a:avLst/>
          </a:prstGeom>
          <a:solidFill>
            <a:srgbClr val="E3AD31"/>
          </a:solidFill>
          <a:ln>
            <a:noFill/>
          </a:ln>
          <a:effectLst/>
        </p:spPr>
        <p:txBody>
          <a:bodyPr rtlCol="0" anchor="ctr"/>
          <a:lstStyle/>
          <a:p>
            <a:pPr algn="ctr"/>
            <a:endParaRPr/>
          </a:p>
        </p:txBody>
      </p:sp>
      <p:sp>
        <p:nvSpPr>
          <p:cNvPr id="9" name="TextBox 8"/>
          <p:cNvSpPr txBox="1"/>
          <p:nvPr/>
        </p:nvSpPr>
        <p:spPr>
          <a:xfrm>
            <a:off x="698269" y="953494"/>
            <a:ext cx="10332720" cy="5413790"/>
          </a:xfrm>
          <a:prstGeom prst="rect">
            <a:avLst/>
          </a:prstGeom>
          <a:noFill/>
        </p:spPr>
        <p:txBody>
          <a:bodyPr wrap="square" lIns="0" tIns="0" rIns="0" bIns="0">
            <a:spAutoFit/>
          </a:bodyPr>
          <a:lstStyle/>
          <a:p>
            <a:pPr>
              <a:lnSpc>
                <a:spcPct val="115000"/>
              </a:lnSpc>
              <a:spcAft>
                <a:spcPts val="1800"/>
              </a:spcAft>
            </a:pPr>
            <a:r>
              <a:rPr lang="en-US" sz="3200" b="1" u="sng" dirty="0">
                <a:solidFill>
                  <a:srgbClr val="102A3C"/>
                </a:solidFill>
                <a:latin typeface="+mj-lt"/>
              </a:rPr>
              <a:t>Dataset Preprocessing</a:t>
            </a:r>
          </a:p>
          <a:p>
            <a:pPr marL="342900" indent="-342900">
              <a:spcAft>
                <a:spcPts val="1800"/>
              </a:spcAft>
              <a:buFont typeface="Arial" panose="020B0604020202020204" pitchFamily="34" charset="0"/>
              <a:buChar char="•"/>
            </a:pPr>
            <a:r>
              <a:rPr lang="en-US" sz="2400" dirty="0"/>
              <a:t>Missing value imputation: Missing values of features are imputed using medians computed on the basis of the training dataset.</a:t>
            </a:r>
          </a:p>
          <a:p>
            <a:pPr marL="342900" indent="-342900">
              <a:spcAft>
                <a:spcPts val="1800"/>
              </a:spcAft>
              <a:buFont typeface="Arial" panose="020B0604020202020204" pitchFamily="34" charset="0"/>
              <a:buChar char="•"/>
            </a:pPr>
            <a:r>
              <a:rPr lang="en-US" sz="2400" dirty="0"/>
              <a:t>Feature selection: Clinical features, identifiers, survival status, target features and mutation features ending in "mut" are excluded from the list of potential features, as mentioned in the report.</a:t>
            </a:r>
          </a:p>
          <a:p>
            <a:pPr marL="342900" indent="-342900">
              <a:spcAft>
                <a:spcPts val="1800"/>
              </a:spcAft>
              <a:buFont typeface="Arial" panose="020B0604020202020204" pitchFamily="34" charset="0"/>
              <a:buChar char="•"/>
            </a:pPr>
            <a:r>
              <a:rPr lang="en-US" sz="2400" dirty="0"/>
              <a:t>Train-test splitting: The dataset is divided into 80% training records and 20% test records.</a:t>
            </a:r>
          </a:p>
          <a:p>
            <a:pPr marL="342900" indent="-342900">
              <a:spcAft>
                <a:spcPts val="1800"/>
              </a:spcAft>
              <a:buFont typeface="Arial" panose="020B0604020202020204" pitchFamily="34" charset="0"/>
              <a:buChar char="•"/>
            </a:pPr>
            <a:r>
              <a:rPr lang="en-US" sz="2400" dirty="0"/>
              <a:t>Stratification: The split ensures that the distribution of subtypes is maintained in both datasets.</a:t>
            </a:r>
          </a:p>
          <a:p>
            <a:pPr marL="342900" indent="-342900">
              <a:spcAft>
                <a:spcPts val="1800"/>
              </a:spcAft>
              <a:buFont typeface="Arial" panose="020B0604020202020204" pitchFamily="34" charset="0"/>
              <a:buChar char="•"/>
            </a:pPr>
            <a:r>
              <a:rPr lang="en-US" sz="2400" dirty="0"/>
              <a:t>Scaling: Scaling is used if needed for specific methods</a:t>
            </a:r>
            <a:r>
              <a:rPr lang="en-US" sz="2400" b="1" dirty="0">
                <a:solidFill>
                  <a:srgbClr val="102A3C"/>
                </a:solidFill>
                <a:latin typeface="Arial" panose="020B0604020202020204"/>
              </a:rPr>
              <a:t>.</a:t>
            </a:r>
          </a:p>
        </p:txBody>
      </p:sp>
      <p:sp>
        <p:nvSpPr>
          <p:cNvPr id="10" name="TextBox 9"/>
          <p:cNvSpPr txBox="1"/>
          <p:nvPr/>
        </p:nvSpPr>
        <p:spPr>
          <a:xfrm>
            <a:off x="10332720" y="6382512"/>
            <a:ext cx="1005840" cy="169277"/>
          </a:xfrm>
          <a:prstGeom prst="rect">
            <a:avLst/>
          </a:prstGeom>
          <a:noFill/>
        </p:spPr>
        <p:txBody>
          <a:bodyPr wrap="square" lIns="0" tIns="0" rIns="0" bIns="0" anchor="t">
            <a:spAutoFit/>
          </a:bodyPr>
          <a:lstStyle/>
          <a:p>
            <a:pPr algn="r"/>
            <a:r>
              <a:rPr lang="en-US" sz="1100" b="1" dirty="0">
                <a:solidFill>
                  <a:srgbClr val="566A7B"/>
                </a:solidFill>
                <a:latin typeface="Arial" panose="020B0604020202020204"/>
              </a:rPr>
              <a:t>8</a:t>
            </a:r>
            <a:endParaRPr sz="1100" b="1" dirty="0">
              <a:solidFill>
                <a:srgbClr val="566A7B"/>
              </a:solidFill>
              <a:latin typeface="Arial" panose="020B060402020202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3E63"/>
          </a:solidFill>
          <a:ln>
            <a:noFill/>
          </a:ln>
          <a:effectLst/>
        </p:spPr>
        <p:txBody>
          <a:bodyPr rtlCol="0" anchor="ctr"/>
          <a:lstStyle/>
          <a:p>
            <a:pPr algn="ctr"/>
            <a:endParaRPr/>
          </a:p>
        </p:txBody>
      </p:sp>
      <p:sp>
        <p:nvSpPr>
          <p:cNvPr id="3" name="TextBox 2"/>
          <p:cNvSpPr txBox="1"/>
          <p:nvPr/>
        </p:nvSpPr>
        <p:spPr>
          <a:xfrm>
            <a:off x="822960" y="566928"/>
            <a:ext cx="10515600" cy="184666"/>
          </a:xfrm>
          <a:prstGeom prst="rect">
            <a:avLst/>
          </a:prstGeom>
          <a:noFill/>
        </p:spPr>
        <p:txBody>
          <a:bodyPr wrap="square" lIns="0" tIns="0" rIns="0" bIns="0" anchor="t">
            <a:spAutoFit/>
          </a:bodyPr>
          <a:lstStyle/>
          <a:p>
            <a:pPr algn="l"/>
            <a:endParaRPr sz="1200" b="1" dirty="0">
              <a:solidFill>
                <a:srgbClr val="E3AD31"/>
              </a:solidFill>
              <a:latin typeface="Arial" panose="020B0604020202020204"/>
            </a:endParaRPr>
          </a:p>
        </p:txBody>
      </p:sp>
      <p:sp>
        <p:nvSpPr>
          <p:cNvPr id="4" name="TextBox 3"/>
          <p:cNvSpPr txBox="1"/>
          <p:nvPr/>
        </p:nvSpPr>
        <p:spPr>
          <a:xfrm>
            <a:off x="838047" y="397745"/>
            <a:ext cx="10515600" cy="984885"/>
          </a:xfrm>
          <a:prstGeom prst="rect">
            <a:avLst/>
          </a:prstGeom>
          <a:noFill/>
        </p:spPr>
        <p:txBody>
          <a:bodyPr wrap="square" lIns="0" tIns="0" rIns="0" bIns="0" anchor="t">
            <a:spAutoFit/>
          </a:bodyPr>
          <a:lstStyle/>
          <a:p>
            <a:r>
              <a:rPr lang="en-US" sz="3200" b="1" u="sng" dirty="0"/>
              <a:t>Proposed methodology and workflow</a:t>
            </a:r>
          </a:p>
          <a:p>
            <a:pPr algn="l"/>
            <a:endParaRPr sz="3200" b="1" u="sng" dirty="0">
              <a:solidFill>
                <a:srgbClr val="003E63"/>
              </a:solidFill>
              <a:latin typeface="Arial" panose="020B0604020202020204"/>
            </a:endParaRPr>
          </a:p>
        </p:txBody>
      </p:sp>
      <p:sp>
        <p:nvSpPr>
          <p:cNvPr id="5" name="Rectangle 4"/>
          <p:cNvSpPr/>
          <p:nvPr/>
        </p:nvSpPr>
        <p:spPr>
          <a:xfrm>
            <a:off x="822960" y="1056896"/>
            <a:ext cx="822960" cy="45720"/>
          </a:xfrm>
          <a:prstGeom prst="rect">
            <a:avLst/>
          </a:prstGeom>
          <a:solidFill>
            <a:srgbClr val="E3AD31"/>
          </a:solidFill>
          <a:ln>
            <a:noFill/>
          </a:ln>
          <a:effectLst/>
        </p:spPr>
        <p:txBody>
          <a:bodyPr rtlCol="0" anchor="ctr"/>
          <a:lstStyle/>
          <a:p>
            <a:pPr algn="ctr"/>
            <a:endParaRPr/>
          </a:p>
        </p:txBody>
      </p:sp>
      <p:sp>
        <p:nvSpPr>
          <p:cNvPr id="10" name="TextBox 9"/>
          <p:cNvSpPr txBox="1"/>
          <p:nvPr/>
        </p:nvSpPr>
        <p:spPr>
          <a:xfrm>
            <a:off x="852055" y="1269939"/>
            <a:ext cx="9875520" cy="4124206"/>
          </a:xfrm>
          <a:prstGeom prst="rect">
            <a:avLst/>
          </a:prstGeom>
          <a:noFill/>
        </p:spPr>
        <p:txBody>
          <a:bodyPr wrap="square" lIns="0" tIns="0" rIns="0" bIns="0" anchor="t">
            <a:spAutoFit/>
          </a:bodyPr>
          <a:lstStyle/>
          <a:p>
            <a:pPr marL="285750" indent="-285750">
              <a:buFont typeface="Arial" panose="020B0604020202020204" pitchFamily="34" charset="0"/>
              <a:buChar char="•"/>
            </a:pPr>
            <a:r>
              <a:rPr lang="en-US" sz="1900" dirty="0"/>
              <a:t>Data Set Preparation: The METABRIC data set consists of 1,904 records of patients and 693 original features. Preprocessing is done to handle missing data, target variables, and to select 490 candidate features.</a:t>
            </a:r>
          </a:p>
          <a:p>
            <a:pPr marL="285750" indent="-285750">
              <a:buFont typeface="Arial" panose="020B0604020202020204" pitchFamily="34" charset="0"/>
              <a:buChar char="•"/>
            </a:pPr>
            <a:r>
              <a:rPr lang="en-US" sz="1900" dirty="0"/>
              <a:t>Feature Selection: Ten different types of complementary feature selection methods are used to assess the importance of features and find out the genes which are related to them.</a:t>
            </a:r>
          </a:p>
          <a:p>
            <a:pPr marL="285750" indent="-285750">
              <a:buFont typeface="Arial" panose="020B0604020202020204" pitchFamily="34" charset="0"/>
              <a:buChar char="•"/>
            </a:pPr>
            <a:r>
              <a:rPr lang="en-US" sz="1900" dirty="0"/>
              <a:t>Consensus Ranking: The ranking of importance scores is done using normalization and top-50 selection frequency method.</a:t>
            </a:r>
          </a:p>
          <a:p>
            <a:pPr marL="285750" indent="-285750">
              <a:buFont typeface="Arial" panose="020B0604020202020204" pitchFamily="34" charset="0"/>
              <a:buChar char="•"/>
            </a:pPr>
            <a:r>
              <a:rPr lang="en-US" sz="1900" dirty="0"/>
              <a:t>Gene Selection: Candidate genes such as EGFR, CDK1, GATA3, ERBB2, and ERBB3 are considered.</a:t>
            </a:r>
          </a:p>
          <a:p>
            <a:pPr marL="285750" indent="-285750">
              <a:buFont typeface="Arial" panose="020B0604020202020204" pitchFamily="34" charset="0"/>
              <a:buChar char="•"/>
            </a:pPr>
            <a:r>
              <a:rPr lang="en-US" sz="1900" dirty="0"/>
              <a:t>Classification: Machine learning technique is used to classify seven breast cancer molecular subtypes.</a:t>
            </a:r>
          </a:p>
          <a:p>
            <a:pPr marL="285750" indent="-285750">
              <a:buFont typeface="Arial" panose="020B0604020202020204" pitchFamily="34" charset="0"/>
              <a:buChar char="•"/>
            </a:pPr>
            <a:r>
              <a:rPr lang="en-US" sz="1900" dirty="0"/>
              <a:t>Survival Analysis: Survival analysis is carried out by means of Cox proportional-hazards models, concordance index, and Kaplan–Meier estimator.</a:t>
            </a:r>
          </a:p>
          <a:p>
            <a:endParaRPr lang="en-US" sz="2200" b="1" dirty="0"/>
          </a:p>
          <a:p>
            <a:endParaRPr sz="1800" b="1" dirty="0">
              <a:solidFill>
                <a:srgbClr val="566A7B"/>
              </a:solidFill>
              <a:latin typeface="Arial" panose="020B0604020202020204"/>
            </a:endParaRPr>
          </a:p>
        </p:txBody>
      </p:sp>
      <p:sp>
        <p:nvSpPr>
          <p:cNvPr id="12" name="TextBox 11"/>
          <p:cNvSpPr txBox="1"/>
          <p:nvPr/>
        </p:nvSpPr>
        <p:spPr>
          <a:xfrm>
            <a:off x="10332720" y="6382512"/>
            <a:ext cx="1005840" cy="169277"/>
          </a:xfrm>
          <a:prstGeom prst="rect">
            <a:avLst/>
          </a:prstGeom>
          <a:noFill/>
        </p:spPr>
        <p:txBody>
          <a:bodyPr wrap="square" lIns="0" tIns="0" rIns="0" bIns="0" anchor="t">
            <a:spAutoFit/>
          </a:bodyPr>
          <a:lstStyle/>
          <a:p>
            <a:pPr algn="r"/>
            <a:r>
              <a:rPr lang="en-US" sz="1100" b="1" dirty="0">
                <a:solidFill>
                  <a:srgbClr val="566A7B"/>
                </a:solidFill>
                <a:latin typeface="Arial" panose="020B0604020202020204"/>
              </a:rPr>
              <a:t>9</a:t>
            </a:r>
            <a:endParaRPr sz="1100" b="1" dirty="0">
              <a:solidFill>
                <a:srgbClr val="566A7B"/>
              </a:solidFill>
              <a:latin typeface="Arial" panose="020B0604020202020204"/>
            </a:endParaRPr>
          </a:p>
        </p:txBody>
      </p:sp>
      <p:pic>
        <p:nvPicPr>
          <p:cNvPr id="14" name="Picture 13"/>
          <p:cNvPicPr>
            <a:picLocks noChangeAspect="1"/>
          </p:cNvPicPr>
          <p:nvPr/>
        </p:nvPicPr>
        <p:blipFill>
          <a:blip r:embed="rId3"/>
          <a:stretch>
            <a:fillRect/>
          </a:stretch>
        </p:blipFill>
        <p:spPr>
          <a:xfrm>
            <a:off x="1100975" y="4792698"/>
            <a:ext cx="8873535" cy="206530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3E63"/>
          </a:solidFill>
          <a:ln>
            <a:noFill/>
          </a:ln>
          <a:effectLst/>
        </p:spPr>
        <p:txBody>
          <a:bodyPr rtlCol="0" anchor="ctr"/>
          <a:lstStyle/>
          <a:p>
            <a:pPr algn="ctr"/>
            <a:endParaRPr/>
          </a:p>
        </p:txBody>
      </p:sp>
      <p:sp>
        <p:nvSpPr>
          <p:cNvPr id="3" name="TextBox 2"/>
          <p:cNvSpPr txBox="1"/>
          <p:nvPr/>
        </p:nvSpPr>
        <p:spPr>
          <a:xfrm>
            <a:off x="822960" y="566928"/>
            <a:ext cx="10515600" cy="184666"/>
          </a:xfrm>
          <a:prstGeom prst="rect">
            <a:avLst/>
          </a:prstGeom>
          <a:noFill/>
        </p:spPr>
        <p:txBody>
          <a:bodyPr wrap="square" lIns="0" tIns="0" rIns="0" bIns="0" anchor="t">
            <a:spAutoFit/>
          </a:bodyPr>
          <a:lstStyle/>
          <a:p>
            <a:pPr algn="l"/>
            <a:endParaRPr sz="1200" b="1" dirty="0">
              <a:solidFill>
                <a:srgbClr val="E3AD31"/>
              </a:solidFill>
              <a:latin typeface="Arial" panose="020B0604020202020204"/>
            </a:endParaRPr>
          </a:p>
        </p:txBody>
      </p:sp>
      <p:sp>
        <p:nvSpPr>
          <p:cNvPr id="4" name="TextBox 3"/>
          <p:cNvSpPr txBox="1"/>
          <p:nvPr/>
        </p:nvSpPr>
        <p:spPr>
          <a:xfrm>
            <a:off x="838047" y="397745"/>
            <a:ext cx="10515600" cy="984885"/>
          </a:xfrm>
          <a:prstGeom prst="rect">
            <a:avLst/>
          </a:prstGeom>
          <a:noFill/>
        </p:spPr>
        <p:txBody>
          <a:bodyPr wrap="square" lIns="0" tIns="0" rIns="0" bIns="0" anchor="t">
            <a:spAutoFit/>
          </a:bodyPr>
          <a:lstStyle/>
          <a:p>
            <a:endParaRPr lang="en-US" sz="3200" dirty="0"/>
          </a:p>
          <a:p>
            <a:pPr algn="l"/>
            <a:endParaRPr sz="3200" b="1" dirty="0">
              <a:solidFill>
                <a:srgbClr val="003E63"/>
              </a:solidFill>
              <a:latin typeface="Arial" panose="020B0604020202020204"/>
            </a:endParaRPr>
          </a:p>
        </p:txBody>
      </p:sp>
      <p:sp>
        <p:nvSpPr>
          <p:cNvPr id="7" name="Rectangle 6"/>
          <p:cNvSpPr/>
          <p:nvPr/>
        </p:nvSpPr>
        <p:spPr>
          <a:xfrm>
            <a:off x="822960" y="6263640"/>
            <a:ext cx="10515600" cy="10972"/>
          </a:xfrm>
          <a:prstGeom prst="rect">
            <a:avLst/>
          </a:prstGeom>
          <a:solidFill>
            <a:srgbClr val="D8E2E9"/>
          </a:solidFill>
          <a:ln>
            <a:noFill/>
          </a:ln>
          <a:effectLst/>
        </p:spPr>
        <p:txBody>
          <a:bodyPr rtlCol="0" anchor="ctr"/>
          <a:lstStyle/>
          <a:p>
            <a:pPr algn="ctr"/>
            <a:endParaRPr/>
          </a:p>
        </p:txBody>
      </p:sp>
      <p:sp>
        <p:nvSpPr>
          <p:cNvPr id="12" name="TextBox 11"/>
          <p:cNvSpPr txBox="1"/>
          <p:nvPr/>
        </p:nvSpPr>
        <p:spPr>
          <a:xfrm>
            <a:off x="10332720" y="6382512"/>
            <a:ext cx="1005840" cy="274320"/>
          </a:xfrm>
          <a:prstGeom prst="rect">
            <a:avLst/>
          </a:prstGeom>
          <a:noFill/>
        </p:spPr>
        <p:txBody>
          <a:bodyPr wrap="square" lIns="0" tIns="0" rIns="0" bIns="0" anchor="t">
            <a:spAutoFit/>
          </a:bodyPr>
          <a:lstStyle/>
          <a:p>
            <a:pPr algn="r"/>
            <a:r>
              <a:rPr sz="1100" b="1">
                <a:solidFill>
                  <a:srgbClr val="566A7B"/>
                </a:solidFill>
                <a:latin typeface="Arial" panose="020B0604020202020204"/>
              </a:rPr>
              <a:t>8</a:t>
            </a:r>
          </a:p>
        </p:txBody>
      </p:sp>
      <p:pic>
        <p:nvPicPr>
          <p:cNvPr id="9" name="Picture 8"/>
          <p:cNvPicPr>
            <a:picLocks noChangeAspect="1"/>
          </p:cNvPicPr>
          <p:nvPr/>
        </p:nvPicPr>
        <p:blipFill>
          <a:blip r:embed="rId3"/>
          <a:stretch>
            <a:fillRect/>
          </a:stretch>
        </p:blipFill>
        <p:spPr>
          <a:xfrm>
            <a:off x="0" y="0"/>
            <a:ext cx="12192000" cy="6858000"/>
          </a:xfrm>
          <a:prstGeom prst="rect">
            <a:avLst/>
          </a:prstGeom>
        </p:spPr>
      </p:pic>
      <p:sp>
        <p:nvSpPr>
          <p:cNvPr id="16" name="TextBox 15"/>
          <p:cNvSpPr txBox="1"/>
          <p:nvPr/>
        </p:nvSpPr>
        <p:spPr>
          <a:xfrm>
            <a:off x="10609811" y="6508349"/>
            <a:ext cx="1005840" cy="169277"/>
          </a:xfrm>
          <a:prstGeom prst="rect">
            <a:avLst/>
          </a:prstGeom>
          <a:noFill/>
        </p:spPr>
        <p:txBody>
          <a:bodyPr wrap="square" lIns="0" tIns="0" rIns="0" bIns="0" anchor="t">
            <a:spAutoFit/>
          </a:bodyPr>
          <a:lstStyle/>
          <a:p>
            <a:pPr algn="r"/>
            <a:r>
              <a:rPr lang="en-US" sz="1100" b="1" dirty="0">
                <a:solidFill>
                  <a:srgbClr val="566A7B"/>
                </a:solidFill>
                <a:latin typeface="Arial" panose="020B0604020202020204"/>
              </a:rPr>
              <a:t>10</a:t>
            </a:r>
            <a:endParaRPr sz="1100" b="1" dirty="0">
              <a:solidFill>
                <a:srgbClr val="566A7B"/>
              </a:solidFill>
              <a:latin typeface="Arial" panose="020B060402020202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3E63"/>
          </a:solidFill>
          <a:ln>
            <a:noFill/>
          </a:ln>
          <a:effectLst/>
        </p:spPr>
        <p:txBody>
          <a:bodyPr rtlCol="0" anchor="ctr"/>
          <a:lstStyle/>
          <a:p>
            <a:pPr algn="ctr"/>
            <a:endParaRPr/>
          </a:p>
        </p:txBody>
      </p:sp>
      <p:sp>
        <p:nvSpPr>
          <p:cNvPr id="4" name="TextBox 3"/>
          <p:cNvSpPr txBox="1"/>
          <p:nvPr/>
        </p:nvSpPr>
        <p:spPr>
          <a:xfrm>
            <a:off x="822960" y="403669"/>
            <a:ext cx="10515600" cy="492443"/>
          </a:xfrm>
          <a:prstGeom prst="rect">
            <a:avLst/>
          </a:prstGeom>
          <a:noFill/>
        </p:spPr>
        <p:txBody>
          <a:bodyPr wrap="square" lIns="0" tIns="0" rIns="0" bIns="0" anchor="t">
            <a:spAutoFit/>
          </a:bodyPr>
          <a:lstStyle/>
          <a:p>
            <a:r>
              <a:rPr lang="en-US" sz="3200" b="1" u="sng" dirty="0">
                <a:latin typeface="+mj-lt"/>
              </a:rPr>
              <a:t>Feature Importance Analysis</a:t>
            </a:r>
          </a:p>
        </p:txBody>
      </p:sp>
      <p:sp>
        <p:nvSpPr>
          <p:cNvPr id="5" name="Rectangle 4"/>
          <p:cNvSpPr/>
          <p:nvPr/>
        </p:nvSpPr>
        <p:spPr>
          <a:xfrm>
            <a:off x="822960" y="998553"/>
            <a:ext cx="822960" cy="45720"/>
          </a:xfrm>
          <a:prstGeom prst="rect">
            <a:avLst/>
          </a:prstGeom>
          <a:solidFill>
            <a:srgbClr val="E3AD31"/>
          </a:solidFill>
          <a:ln>
            <a:noFill/>
          </a:ln>
          <a:effectLst/>
        </p:spPr>
        <p:txBody>
          <a:bodyPr rtlCol="0" anchor="ctr"/>
          <a:lstStyle/>
          <a:p>
            <a:pPr algn="ctr"/>
            <a:endParaRPr/>
          </a:p>
        </p:txBody>
      </p:sp>
      <p:sp>
        <p:nvSpPr>
          <p:cNvPr id="7" name="Rectangle 6"/>
          <p:cNvSpPr/>
          <p:nvPr/>
        </p:nvSpPr>
        <p:spPr>
          <a:xfrm>
            <a:off x="822960" y="6263640"/>
            <a:ext cx="10515600" cy="10972"/>
          </a:xfrm>
          <a:prstGeom prst="rect">
            <a:avLst/>
          </a:prstGeom>
          <a:solidFill>
            <a:srgbClr val="D8E2E9"/>
          </a:solidFill>
          <a:ln>
            <a:noFill/>
          </a:ln>
          <a:effectLst/>
        </p:spPr>
        <p:txBody>
          <a:bodyPr rtlCol="0" anchor="ctr"/>
          <a:lstStyle/>
          <a:p>
            <a:pPr algn="ctr"/>
            <a:endParaRPr/>
          </a:p>
        </p:txBody>
      </p:sp>
      <p:sp>
        <p:nvSpPr>
          <p:cNvPr id="10" name="TextBox 9"/>
          <p:cNvSpPr txBox="1"/>
          <p:nvPr/>
        </p:nvSpPr>
        <p:spPr>
          <a:xfrm>
            <a:off x="822960" y="1080135"/>
            <a:ext cx="10982960" cy="6155531"/>
          </a:xfrm>
          <a:prstGeom prst="rect">
            <a:avLst/>
          </a:prstGeom>
          <a:noFill/>
        </p:spPr>
        <p:txBody>
          <a:bodyPr wrap="square" lIns="0" tIns="0" rIns="0" bIns="0" anchor="t">
            <a:spAutoFit/>
          </a:bodyPr>
          <a:lstStyle/>
          <a:p>
            <a:r>
              <a:rPr lang="en-US" sz="2800" b="1" u="sng" dirty="0"/>
              <a:t>Understanding Feature Importance</a:t>
            </a:r>
            <a:endParaRPr lang="en-US" b="1" dirty="0"/>
          </a:p>
          <a:p>
            <a:pPr marL="285750" indent="-285750">
              <a:buFont typeface="Arial" panose="020B0604020202020204" pitchFamily="34" charset="0"/>
              <a:buChar char="•"/>
            </a:pPr>
            <a:r>
              <a:rPr lang="en-US" sz="2400" dirty="0"/>
              <a:t>Feature Importance is used to determine how informative input features are in a machine learning algorithm.</a:t>
            </a:r>
          </a:p>
          <a:p>
            <a:pPr marL="285750" indent="-285750">
              <a:buFont typeface="Arial" panose="020B0604020202020204" pitchFamily="34" charset="0"/>
              <a:buChar char="•"/>
            </a:pPr>
            <a:r>
              <a:rPr lang="en-US" sz="2400" dirty="0"/>
              <a:t>It aids in finding out the features which are most significant for prediction and classification.</a:t>
            </a:r>
          </a:p>
          <a:p>
            <a:pPr marL="285750" indent="-285750">
              <a:buFont typeface="Arial" panose="020B0604020202020204" pitchFamily="34" charset="0"/>
              <a:buChar char="•"/>
            </a:pPr>
            <a:r>
              <a:rPr lang="en-US" sz="2400" dirty="0"/>
              <a:t>For instance, in the breast cancer study, the important features are the ones that aid in differentiating between molecular subtypes of breast cancer.</a:t>
            </a:r>
          </a:p>
          <a:p>
            <a:pPr marL="285750" indent="-285750">
              <a:buFont typeface="Arial" panose="020B0604020202020204" pitchFamily="34" charset="0"/>
              <a:buChar char="•"/>
            </a:pPr>
            <a:r>
              <a:rPr lang="en-US" sz="2400" dirty="0"/>
              <a:t>The features could be in the form of genes which have been found to have certain expressions which give information about tumor.</a:t>
            </a:r>
          </a:p>
          <a:p>
            <a:pPr marL="285750" indent="-285750">
              <a:buFont typeface="Arial" panose="020B0604020202020204" pitchFamily="34" charset="0"/>
              <a:buChar char="•"/>
            </a:pPr>
            <a:r>
              <a:rPr lang="en-US" sz="2400" dirty="0"/>
              <a:t>Finding out such genes would aid in improving the efficiency of the classification model.</a:t>
            </a:r>
          </a:p>
          <a:p>
            <a:pPr marL="285750" indent="-285750">
              <a:buFont typeface="Arial" panose="020B0604020202020204" pitchFamily="34" charset="0"/>
              <a:buChar char="•"/>
            </a:pPr>
            <a:r>
              <a:rPr lang="en-US" sz="2400" dirty="0"/>
              <a:t>Feature importance would help in minimizing the impact of useless features on the prediction process.</a:t>
            </a:r>
          </a:p>
          <a:p>
            <a:pPr marL="285750" indent="-285750">
              <a:buFont typeface="Arial" panose="020B0604020202020204" pitchFamily="34" charset="0"/>
              <a:buChar char="•"/>
            </a:pPr>
            <a:r>
              <a:rPr lang="en-US" sz="2400" dirty="0"/>
              <a:t>For this project, various methods are employed for feature selection to find out </a:t>
            </a:r>
            <a:br>
              <a:rPr lang="en-US" sz="2400" dirty="0"/>
            </a:br>
            <a:r>
              <a:rPr lang="en-US" sz="2400" dirty="0"/>
              <a:t>which genes are most relevant from the METABRIC data set.</a:t>
            </a:r>
          </a:p>
          <a:p>
            <a:endParaRPr lang="en-US" dirty="0"/>
          </a:p>
          <a:p>
            <a:endParaRPr sz="1800" dirty="0">
              <a:solidFill>
                <a:srgbClr val="566A7B"/>
              </a:solidFill>
              <a:latin typeface="Arial" panose="020B0604020202020204"/>
            </a:endParaRPr>
          </a:p>
        </p:txBody>
      </p:sp>
      <p:sp>
        <p:nvSpPr>
          <p:cNvPr id="14" name="TextBox 13"/>
          <p:cNvSpPr txBox="1"/>
          <p:nvPr/>
        </p:nvSpPr>
        <p:spPr>
          <a:xfrm>
            <a:off x="10332720" y="6382512"/>
            <a:ext cx="1005840" cy="169277"/>
          </a:xfrm>
          <a:prstGeom prst="rect">
            <a:avLst/>
          </a:prstGeom>
          <a:noFill/>
        </p:spPr>
        <p:txBody>
          <a:bodyPr wrap="square" lIns="0" tIns="0" rIns="0" bIns="0" anchor="t">
            <a:spAutoFit/>
          </a:bodyPr>
          <a:lstStyle/>
          <a:p>
            <a:pPr algn="r"/>
            <a:r>
              <a:rPr lang="en-US" sz="1100" b="1" dirty="0">
                <a:solidFill>
                  <a:srgbClr val="566A7B"/>
                </a:solidFill>
                <a:latin typeface="Arial" panose="020B0604020202020204"/>
              </a:rPr>
              <a:t>11</a:t>
            </a:r>
            <a:endParaRPr sz="1100" b="1" dirty="0">
              <a:solidFill>
                <a:srgbClr val="566A7B"/>
              </a:solidFill>
              <a:latin typeface="Arial" panose="020B060402020202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a:blip r:embed="rId3"/>
          <a:stretch>
            <a:fillRect/>
          </a:stretch>
        </p:blipFill>
        <p:spPr>
          <a:xfrm>
            <a:off x="0" y="0"/>
            <a:ext cx="12192000" cy="6858000"/>
          </a:xfrm>
          <a:prstGeom prst="rect">
            <a:avLst/>
          </a:prstGeom>
        </p:spPr>
      </p:pic>
      <p:sp>
        <p:nvSpPr>
          <p:cNvPr id="13" name="Oval 12"/>
          <p:cNvSpPr/>
          <p:nvPr/>
        </p:nvSpPr>
        <p:spPr>
          <a:xfrm>
            <a:off x="11159836" y="6473536"/>
            <a:ext cx="135082" cy="103909"/>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TextBox 15"/>
          <p:cNvSpPr txBox="1"/>
          <p:nvPr/>
        </p:nvSpPr>
        <p:spPr>
          <a:xfrm>
            <a:off x="10289078" y="6304259"/>
            <a:ext cx="1005840" cy="169277"/>
          </a:xfrm>
          <a:prstGeom prst="rect">
            <a:avLst/>
          </a:prstGeom>
          <a:noFill/>
        </p:spPr>
        <p:txBody>
          <a:bodyPr wrap="square" lIns="0" tIns="0" rIns="0" bIns="0" anchor="t">
            <a:spAutoFit/>
          </a:bodyPr>
          <a:lstStyle/>
          <a:p>
            <a:pPr algn="r"/>
            <a:r>
              <a:rPr lang="en-US" sz="1100" b="1" dirty="0">
                <a:solidFill>
                  <a:srgbClr val="566A7B"/>
                </a:solidFill>
                <a:latin typeface="Arial" panose="020B0604020202020204"/>
              </a:rPr>
              <a:t>12</a:t>
            </a:r>
            <a:endParaRPr sz="1100" b="1" dirty="0">
              <a:solidFill>
                <a:srgbClr val="566A7B"/>
              </a:solidFill>
              <a:latin typeface="Arial" panose="020B06040202020202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0" y="0"/>
            <a:ext cx="12192000" cy="6858000"/>
          </a:xfrm>
          <a:prstGeom prst="rect">
            <a:avLst/>
          </a:prstGeom>
        </p:spPr>
      </p:pic>
      <p:sp>
        <p:nvSpPr>
          <p:cNvPr id="8" name="Oval 7"/>
          <p:cNvSpPr/>
          <p:nvPr/>
        </p:nvSpPr>
        <p:spPr>
          <a:xfrm flipV="1">
            <a:off x="11128664" y="6377940"/>
            <a:ext cx="176645" cy="203663"/>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TextBox 9"/>
          <p:cNvSpPr txBox="1"/>
          <p:nvPr/>
        </p:nvSpPr>
        <p:spPr>
          <a:xfrm>
            <a:off x="10299469" y="6412326"/>
            <a:ext cx="1005840" cy="169277"/>
          </a:xfrm>
          <a:prstGeom prst="rect">
            <a:avLst/>
          </a:prstGeom>
          <a:noFill/>
        </p:spPr>
        <p:txBody>
          <a:bodyPr wrap="square" lIns="0" tIns="0" rIns="0" bIns="0" anchor="t">
            <a:spAutoFit/>
          </a:bodyPr>
          <a:lstStyle/>
          <a:p>
            <a:pPr algn="r"/>
            <a:r>
              <a:rPr lang="en-US" sz="1100" b="1" dirty="0">
                <a:solidFill>
                  <a:srgbClr val="566A7B"/>
                </a:solidFill>
                <a:latin typeface="Arial" panose="020B0604020202020204"/>
              </a:rPr>
              <a:t>13</a:t>
            </a:r>
            <a:endParaRPr sz="1100" b="1" dirty="0">
              <a:solidFill>
                <a:srgbClr val="566A7B"/>
              </a:solidFill>
              <a:latin typeface="Arial" panose="020B06040202020202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3E63"/>
          </a:solidFill>
          <a:ln>
            <a:noFill/>
          </a:ln>
          <a:effectLst/>
        </p:spPr>
        <p:txBody>
          <a:bodyPr rtlCol="0" anchor="ctr"/>
          <a:lstStyle/>
          <a:p>
            <a:pPr algn="ctr"/>
            <a:endParaRPr/>
          </a:p>
        </p:txBody>
      </p:sp>
      <p:sp>
        <p:nvSpPr>
          <p:cNvPr id="4" name="TextBox 3"/>
          <p:cNvSpPr txBox="1"/>
          <p:nvPr/>
        </p:nvSpPr>
        <p:spPr>
          <a:xfrm>
            <a:off x="822960" y="403669"/>
            <a:ext cx="10515600" cy="492443"/>
          </a:xfrm>
          <a:prstGeom prst="rect">
            <a:avLst/>
          </a:prstGeom>
          <a:noFill/>
        </p:spPr>
        <p:txBody>
          <a:bodyPr wrap="square" lIns="0" tIns="0" rIns="0" bIns="0" anchor="t">
            <a:spAutoFit/>
          </a:bodyPr>
          <a:lstStyle/>
          <a:p>
            <a:endParaRPr lang="en-US" sz="3200" dirty="0"/>
          </a:p>
        </p:txBody>
      </p:sp>
      <p:sp>
        <p:nvSpPr>
          <p:cNvPr id="5" name="Rectangle 4"/>
          <p:cNvSpPr/>
          <p:nvPr/>
        </p:nvSpPr>
        <p:spPr>
          <a:xfrm>
            <a:off x="822957" y="649890"/>
            <a:ext cx="822960" cy="45720"/>
          </a:xfrm>
          <a:prstGeom prst="rect">
            <a:avLst/>
          </a:prstGeom>
          <a:solidFill>
            <a:srgbClr val="E3AD31"/>
          </a:solidFill>
          <a:ln>
            <a:noFill/>
          </a:ln>
          <a:effectLst/>
        </p:spPr>
        <p:txBody>
          <a:bodyPr rtlCol="0" anchor="ctr"/>
          <a:lstStyle/>
          <a:p>
            <a:pPr algn="ctr"/>
            <a:endParaRPr/>
          </a:p>
        </p:txBody>
      </p:sp>
      <p:sp>
        <p:nvSpPr>
          <p:cNvPr id="14" name="TextBox 13"/>
          <p:cNvSpPr txBox="1"/>
          <p:nvPr/>
        </p:nvSpPr>
        <p:spPr>
          <a:xfrm>
            <a:off x="10332720" y="6382512"/>
            <a:ext cx="1005840" cy="169277"/>
          </a:xfrm>
          <a:prstGeom prst="rect">
            <a:avLst/>
          </a:prstGeom>
          <a:noFill/>
        </p:spPr>
        <p:txBody>
          <a:bodyPr wrap="square" lIns="0" tIns="0" rIns="0" bIns="0" anchor="t">
            <a:spAutoFit/>
          </a:bodyPr>
          <a:lstStyle/>
          <a:p>
            <a:pPr algn="r"/>
            <a:r>
              <a:rPr lang="en-US" sz="1100" b="1" dirty="0">
                <a:solidFill>
                  <a:srgbClr val="566A7B"/>
                </a:solidFill>
                <a:latin typeface="Arial" panose="020B0604020202020204"/>
              </a:rPr>
              <a:t>14</a:t>
            </a:r>
            <a:endParaRPr sz="1100" b="1" dirty="0">
              <a:solidFill>
                <a:srgbClr val="566A7B"/>
              </a:solidFill>
              <a:latin typeface="Arial" panose="020B0604020202020204"/>
            </a:endParaRPr>
          </a:p>
        </p:txBody>
      </p:sp>
      <p:sp>
        <p:nvSpPr>
          <p:cNvPr id="3" name="Title 2"/>
          <p:cNvSpPr>
            <a:spLocks noGrp="1"/>
          </p:cNvSpPr>
          <p:nvPr>
            <p:ph type="ctrTitle"/>
          </p:nvPr>
        </p:nvSpPr>
        <p:spPr>
          <a:xfrm>
            <a:off x="765807" y="719609"/>
            <a:ext cx="10160234" cy="614742"/>
          </a:xfrm>
        </p:spPr>
        <p:txBody>
          <a:bodyPr>
            <a:noAutofit/>
          </a:bodyPr>
          <a:lstStyle/>
          <a:p>
            <a:pPr algn="l"/>
            <a:r>
              <a:rPr lang="en-US" sz="3200" b="1" u="sng" dirty="0"/>
              <a:t>Combining Multiple Methods for Reliable Gene Selection</a:t>
            </a:r>
          </a:p>
        </p:txBody>
      </p:sp>
      <p:sp>
        <p:nvSpPr>
          <p:cNvPr id="6" name="Subtitle 5"/>
          <p:cNvSpPr>
            <a:spLocks noGrp="1"/>
          </p:cNvSpPr>
          <p:nvPr>
            <p:ph type="subTitle" idx="1"/>
          </p:nvPr>
        </p:nvSpPr>
        <p:spPr>
          <a:xfrm>
            <a:off x="822957" y="1540391"/>
            <a:ext cx="10045934" cy="3632192"/>
          </a:xfrm>
        </p:spPr>
        <p:txBody>
          <a:bodyPr>
            <a:noAutofit/>
          </a:bodyPr>
          <a:lstStyle/>
          <a:p>
            <a:pPr marL="342900" indent="-342900" algn="l">
              <a:buFont typeface="Arial" panose="020B0604020202020204" pitchFamily="34" charset="0"/>
              <a:buChar char="•"/>
            </a:pPr>
            <a:r>
              <a:rPr lang="en-US" sz="2400" dirty="0">
                <a:solidFill>
                  <a:schemeClr val="tx1"/>
                </a:solidFill>
              </a:rPr>
              <a:t>The importance of a feature may vary depending on the method used.</a:t>
            </a:r>
          </a:p>
          <a:p>
            <a:pPr marL="342900" indent="-342900" algn="l">
              <a:buFont typeface="Arial" panose="020B0604020202020204" pitchFamily="34" charset="0"/>
              <a:buChar char="•"/>
            </a:pPr>
            <a:r>
              <a:rPr lang="en-US" sz="2400" dirty="0">
                <a:solidFill>
                  <a:schemeClr val="tx1"/>
                </a:solidFill>
              </a:rPr>
              <a:t>Tree-based methods consider the way features operate in tree models.</a:t>
            </a:r>
          </a:p>
          <a:p>
            <a:pPr marL="342900" indent="-342900" algn="l">
              <a:buFont typeface="Arial" panose="020B0604020202020204" pitchFamily="34" charset="0"/>
              <a:buChar char="•"/>
            </a:pPr>
            <a:r>
              <a:rPr lang="en-US" sz="2400" dirty="0">
                <a:solidFill>
                  <a:schemeClr val="tx1"/>
                </a:solidFill>
              </a:rPr>
              <a:t>LASSO and Elastic Net examine the coefficients of the feature.- Mutual   information and ANOVA measure statistical association.</a:t>
            </a:r>
          </a:p>
          <a:p>
            <a:pPr marL="342900" indent="-342900" algn="l">
              <a:buFont typeface="Arial" panose="020B0604020202020204" pitchFamily="34" charset="0"/>
              <a:buChar char="•"/>
            </a:pPr>
            <a:r>
              <a:rPr lang="en-US" sz="2400" dirty="0">
                <a:solidFill>
                  <a:schemeClr val="tx1"/>
                </a:solidFill>
              </a:rPr>
              <a:t>SHAP and permutation importance estimate the influence of feature information on the model prediction.</a:t>
            </a:r>
          </a:p>
          <a:p>
            <a:pPr marL="342900" indent="-342900" algn="l">
              <a:buFont typeface="Arial" panose="020B0604020202020204" pitchFamily="34" charset="0"/>
              <a:buChar char="•"/>
            </a:pPr>
            <a:r>
              <a:rPr lang="en-US" sz="2400" dirty="0">
                <a:solidFill>
                  <a:schemeClr val="tx1"/>
                </a:solidFill>
              </a:rPr>
              <a:t>This combination makes possible to rely on the perspective of a certain method.</a:t>
            </a:r>
          </a:p>
          <a:p>
            <a:pPr marL="342900" indent="-342900" algn="l">
              <a:buFont typeface="Arial" panose="020B0604020202020204" pitchFamily="34" charset="0"/>
              <a:buChar char="•"/>
            </a:pPr>
            <a:r>
              <a:rPr lang="en-US" sz="2400" dirty="0">
                <a:solidFill>
                  <a:schemeClr val="tx1"/>
                </a:solidFill>
              </a:rPr>
              <a:t>Important: If several methods agree, it provides justification for a further study of the gene, yet it doesn't mean that the gene can cause cancer.</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3E63"/>
          </a:solidFill>
          <a:ln>
            <a:noFill/>
          </a:ln>
          <a:effectLst/>
        </p:spPr>
        <p:txBody>
          <a:bodyPr rtlCol="0" anchor="ctr"/>
          <a:lstStyle/>
          <a:p>
            <a:pPr algn="ctr"/>
            <a:endParaRPr/>
          </a:p>
        </p:txBody>
      </p:sp>
      <p:sp>
        <p:nvSpPr>
          <p:cNvPr id="5" name="Rectangle 4"/>
          <p:cNvSpPr/>
          <p:nvPr/>
        </p:nvSpPr>
        <p:spPr>
          <a:xfrm>
            <a:off x="844747" y="725806"/>
            <a:ext cx="822960" cy="45720"/>
          </a:xfrm>
          <a:prstGeom prst="rect">
            <a:avLst/>
          </a:prstGeom>
          <a:solidFill>
            <a:srgbClr val="E3AD31"/>
          </a:solidFill>
          <a:ln>
            <a:noFill/>
          </a:ln>
          <a:effectLst/>
        </p:spPr>
        <p:txBody>
          <a:bodyPr rtlCol="0" anchor="ctr"/>
          <a:lstStyle/>
          <a:p>
            <a:pPr algn="ctr"/>
            <a:endParaRPr/>
          </a:p>
        </p:txBody>
      </p:sp>
      <p:sp>
        <p:nvSpPr>
          <p:cNvPr id="10" name="TextBox 9"/>
          <p:cNvSpPr txBox="1"/>
          <p:nvPr/>
        </p:nvSpPr>
        <p:spPr>
          <a:xfrm>
            <a:off x="844550" y="665480"/>
            <a:ext cx="10520680" cy="5416868"/>
          </a:xfrm>
          <a:prstGeom prst="rect">
            <a:avLst/>
          </a:prstGeom>
          <a:noFill/>
        </p:spPr>
        <p:txBody>
          <a:bodyPr wrap="square" lIns="0" tIns="0" rIns="0" bIns="0" anchor="t">
            <a:spAutoFit/>
          </a:bodyPr>
          <a:lstStyle/>
          <a:p>
            <a:r>
              <a:rPr lang="en-US" sz="4400" b="1" u="sng" baseline="-25000" dirty="0"/>
              <a:t>Calculation of consensus score</a:t>
            </a:r>
          </a:p>
          <a:p>
            <a:endParaRPr lang="en-US" sz="3600" baseline="-25000" dirty="0">
              <a:solidFill>
                <a:srgbClr val="566A7B"/>
              </a:solidFill>
            </a:endParaRPr>
          </a:p>
          <a:p>
            <a:r>
              <a:rPr lang="en-US" sz="3200" baseline="-25000" dirty="0">
                <a:solidFill>
                  <a:schemeClr val="tx1"/>
                </a:solidFill>
              </a:rPr>
              <a:t>The report identifies two main types of evidence for the calculation of consensus:</a:t>
            </a:r>
          </a:p>
          <a:p>
            <a:r>
              <a:rPr lang="en-US" sz="3200" baseline="-25000" dirty="0">
                <a:solidFill>
                  <a:schemeClr val="tx1"/>
                </a:solidFill>
              </a:rPr>
              <a:t>Normalized importance score: The scores for each of the methods are normalized to be in the [0; 1] range using the min–max normalization.</a:t>
            </a:r>
          </a:p>
          <a:p>
            <a:r>
              <a:rPr lang="en-US" sz="3200" baseline="-25000" dirty="0">
                <a:solidFill>
                  <a:schemeClr val="tx1"/>
                </a:solidFill>
              </a:rPr>
              <a:t>Top-50 recurrence: The number of occurrences of each feature among the top 50 selected features for the methods.</a:t>
            </a:r>
          </a:p>
          <a:p>
            <a:r>
              <a:rPr lang="en-US" sz="3200" baseline="-25000" dirty="0">
                <a:solidFill>
                  <a:schemeClr val="tx1"/>
                </a:solidFill>
              </a:rPr>
              <a:t>The formula for the normalization is  </a:t>
            </a:r>
            <a:endParaRPr lang="en-US" sz="3200" i="1" baseline="-25000" dirty="0">
              <a:solidFill>
                <a:schemeClr val="tx1"/>
              </a:solidFill>
            </a:endParaRPr>
          </a:p>
          <a:p>
            <a:endParaRPr lang="en-US" sz="3200" baseline="-25000" dirty="0">
              <a:solidFill>
                <a:schemeClr val="tx1"/>
              </a:solidFill>
            </a:endParaRPr>
          </a:p>
          <a:p>
            <a:endParaRPr lang="ar-AE" sz="3200" baseline="-25000" dirty="0">
              <a:solidFill>
                <a:schemeClr val="tx1"/>
              </a:solidFill>
            </a:endParaRPr>
          </a:p>
          <a:p>
            <a:r>
              <a:rPr lang="en-US" sz="3200" baseline="-25000" dirty="0">
                <a:solidFill>
                  <a:schemeClr val="tx1"/>
                </a:solidFill>
              </a:rPr>
              <a:t>where (s) is the initial score and (s') is its normalized counterpart.</a:t>
            </a:r>
          </a:p>
          <a:p>
            <a:endParaRPr lang="en-US" sz="3200" baseline="-25000" dirty="0">
              <a:solidFill>
                <a:schemeClr val="tx1"/>
              </a:solidFill>
            </a:endParaRPr>
          </a:p>
          <a:p>
            <a:r>
              <a:rPr lang="en-US" sz="3200" baseline="-25000" dirty="0">
                <a:solidFill>
                  <a:schemeClr val="tx1"/>
                </a:solidFill>
              </a:rPr>
              <a:t>Example: For a score set of 2, 5 and 8 the normalized scores will be 0, 0.5 and 1 respectively.</a:t>
            </a:r>
          </a:p>
          <a:p>
            <a:r>
              <a:rPr lang="en-US" sz="3200" baseline="-25000" dirty="0">
                <a:solidFill>
                  <a:schemeClr val="tx1"/>
                </a:solidFill>
              </a:rPr>
              <a:t>The average of the normalized scores is used to calculate the consensus score. The final ordering takes into account top-50 recurrence before the consensus score. That's why the final ordering doesn't just follow the descending order of consensus score.</a:t>
            </a:r>
          </a:p>
        </p:txBody>
      </p:sp>
      <p:sp>
        <p:nvSpPr>
          <p:cNvPr id="14" name="TextBox 13"/>
          <p:cNvSpPr txBox="1"/>
          <p:nvPr/>
        </p:nvSpPr>
        <p:spPr>
          <a:xfrm>
            <a:off x="10332720" y="6382512"/>
            <a:ext cx="1005840" cy="169277"/>
          </a:xfrm>
          <a:prstGeom prst="rect">
            <a:avLst/>
          </a:prstGeom>
          <a:noFill/>
        </p:spPr>
        <p:txBody>
          <a:bodyPr wrap="square" lIns="0" tIns="0" rIns="0" bIns="0" anchor="t">
            <a:spAutoFit/>
          </a:bodyPr>
          <a:lstStyle/>
          <a:p>
            <a:pPr algn="r"/>
            <a:r>
              <a:rPr lang="en-US" sz="1100" b="1" dirty="0">
                <a:solidFill>
                  <a:srgbClr val="566A7B"/>
                </a:solidFill>
                <a:latin typeface="Arial" panose="020B0604020202020204"/>
              </a:rPr>
              <a:t>15</a:t>
            </a:r>
            <a:endParaRPr sz="1100" b="1" dirty="0">
              <a:solidFill>
                <a:srgbClr val="566A7B"/>
              </a:solidFill>
              <a:latin typeface="Arial" panose="020B0604020202020204"/>
            </a:endParaRPr>
          </a:p>
        </p:txBody>
      </p:sp>
      <p:pic>
        <p:nvPicPr>
          <p:cNvPr id="6" name="Picture 5"/>
          <p:cNvPicPr>
            <a:picLocks noChangeAspect="1"/>
          </p:cNvPicPr>
          <p:nvPr/>
        </p:nvPicPr>
        <p:blipFill>
          <a:blip r:embed="rId3"/>
          <a:stretch>
            <a:fillRect/>
          </a:stretch>
        </p:blipFill>
        <p:spPr>
          <a:xfrm>
            <a:off x="5033394" y="3355597"/>
            <a:ext cx="1577131" cy="66273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3E63"/>
          </a:solidFill>
          <a:ln>
            <a:noFill/>
          </a:ln>
          <a:effectLst/>
        </p:spPr>
        <p:txBody>
          <a:bodyPr rtlCol="0" anchor="ctr"/>
          <a:lstStyle/>
          <a:p>
            <a:pPr algn="ctr"/>
            <a:endParaRPr/>
          </a:p>
        </p:txBody>
      </p:sp>
      <p:sp>
        <p:nvSpPr>
          <p:cNvPr id="4" name="TextBox 3"/>
          <p:cNvSpPr txBox="1"/>
          <p:nvPr/>
        </p:nvSpPr>
        <p:spPr>
          <a:xfrm>
            <a:off x="707214" y="623352"/>
            <a:ext cx="10515600" cy="492443"/>
          </a:xfrm>
          <a:prstGeom prst="rect">
            <a:avLst/>
          </a:prstGeom>
          <a:noFill/>
        </p:spPr>
        <p:txBody>
          <a:bodyPr wrap="square" lIns="0" tIns="0" rIns="0" bIns="0" anchor="t">
            <a:spAutoFit/>
          </a:bodyPr>
          <a:lstStyle/>
          <a:p>
            <a:r>
              <a:rPr lang="en-US" sz="3200" b="1" u="sng" dirty="0"/>
              <a:t>Consensus-based gene selection</a:t>
            </a:r>
          </a:p>
        </p:txBody>
      </p:sp>
      <p:sp>
        <p:nvSpPr>
          <p:cNvPr id="5" name="Rectangle 4"/>
          <p:cNvSpPr/>
          <p:nvPr/>
        </p:nvSpPr>
        <p:spPr>
          <a:xfrm>
            <a:off x="707214" y="1272294"/>
            <a:ext cx="822960" cy="45720"/>
          </a:xfrm>
          <a:prstGeom prst="rect">
            <a:avLst/>
          </a:prstGeom>
          <a:solidFill>
            <a:srgbClr val="E3AD31"/>
          </a:solidFill>
          <a:ln>
            <a:noFill/>
          </a:ln>
          <a:effectLst/>
        </p:spPr>
        <p:txBody>
          <a:bodyPr rtlCol="0" anchor="ctr"/>
          <a:lstStyle/>
          <a:p>
            <a:pPr algn="ctr"/>
            <a:endParaRPr/>
          </a:p>
        </p:txBody>
      </p:sp>
      <p:sp>
        <p:nvSpPr>
          <p:cNvPr id="9" name="TextBox 8"/>
          <p:cNvSpPr txBox="1"/>
          <p:nvPr/>
        </p:nvSpPr>
        <p:spPr>
          <a:xfrm>
            <a:off x="618667" y="1584509"/>
            <a:ext cx="10332720" cy="3843020"/>
          </a:xfrm>
          <a:prstGeom prst="rect">
            <a:avLst/>
          </a:prstGeom>
          <a:noFill/>
        </p:spPr>
        <p:txBody>
          <a:bodyPr wrap="square" lIns="0" tIns="0" rIns="0" bIns="0">
            <a:spAutoFit/>
          </a:bodyPr>
          <a:lstStyle/>
          <a:p>
            <a:pPr>
              <a:lnSpc>
                <a:spcPct val="115000"/>
              </a:lnSpc>
              <a:spcAft>
                <a:spcPts val="2000"/>
              </a:spcAft>
            </a:pPr>
            <a:r>
              <a:rPr lang="en-US" sz="2100" dirty="0">
                <a:solidFill>
                  <a:srgbClr val="102A3C"/>
                </a:solidFill>
                <a:latin typeface="Arial" panose="020B0604020202020204"/>
              </a:rPr>
              <a:t> </a:t>
            </a:r>
            <a:r>
              <a:rPr lang="en-US" sz="2400" dirty="0">
                <a:solidFill>
                  <a:srgbClr val="102A3C"/>
                </a:solidFill>
                <a:latin typeface="Arial" panose="020B0604020202020204"/>
              </a:rPr>
              <a:t> </a:t>
            </a:r>
            <a:r>
              <a:rPr lang="en-US" sz="2800" b="1" dirty="0">
                <a:latin typeface="Arial" panose="020B0604020202020204"/>
              </a:rPr>
              <a:t>What is meant by consensus selection</a:t>
            </a:r>
            <a:r>
              <a:rPr lang="en-US" sz="2800" dirty="0">
                <a:latin typeface="Arial" panose="020B0604020202020204"/>
              </a:rPr>
              <a:t>? </a:t>
            </a:r>
          </a:p>
          <a:p>
            <a:pPr marL="285750" indent="-285750">
              <a:lnSpc>
                <a:spcPct val="115000"/>
              </a:lnSpc>
              <a:spcAft>
                <a:spcPts val="1200"/>
              </a:spcAft>
              <a:buFont typeface="Arial" panose="020B0604020202020204" pitchFamily="34" charset="0"/>
              <a:buChar char="•"/>
            </a:pPr>
            <a:r>
              <a:rPr lang="en-US" sz="2400" dirty="0">
                <a:latin typeface="Arial" panose="020B0604020202020204"/>
              </a:rPr>
              <a:t>Consensus stands for agreement between multiple algorithms.</a:t>
            </a:r>
          </a:p>
          <a:p>
            <a:pPr marL="285750" indent="-285750">
              <a:lnSpc>
                <a:spcPct val="115000"/>
              </a:lnSpc>
              <a:spcAft>
                <a:spcPts val="1200"/>
              </a:spcAft>
              <a:buFont typeface="Arial" panose="020B0604020202020204" pitchFamily="34" charset="0"/>
              <a:buChar char="•"/>
            </a:pPr>
            <a:r>
              <a:rPr lang="en-US" sz="2400" dirty="0">
                <a:latin typeface="Arial" panose="020B0604020202020204"/>
              </a:rPr>
              <a:t>Each algorithm rates the features based on their importance scores.</a:t>
            </a:r>
          </a:p>
          <a:p>
            <a:pPr marL="285750" indent="-285750">
              <a:lnSpc>
                <a:spcPct val="115000"/>
              </a:lnSpc>
              <a:spcAft>
                <a:spcPts val="1200"/>
              </a:spcAft>
              <a:buFont typeface="Arial" panose="020B0604020202020204" pitchFamily="34" charset="0"/>
              <a:buChar char="•"/>
            </a:pPr>
            <a:r>
              <a:rPr lang="en-US" sz="2400" dirty="0">
                <a:latin typeface="Arial" panose="020B0604020202020204"/>
              </a:rPr>
              <a:t>The project identifies features that consistently rank highly across multiple algorithms.</a:t>
            </a:r>
          </a:p>
          <a:p>
            <a:pPr marL="285750" indent="-285750">
              <a:lnSpc>
                <a:spcPct val="115000"/>
              </a:lnSpc>
              <a:spcAft>
                <a:spcPts val="1200"/>
              </a:spcAft>
              <a:buFont typeface="Arial" panose="020B0604020202020204" pitchFamily="34" charset="0"/>
              <a:buChar char="•"/>
            </a:pPr>
            <a:r>
              <a:rPr lang="en-US" sz="2400" dirty="0">
                <a:latin typeface="Arial" panose="020B0604020202020204"/>
              </a:rPr>
              <a:t>Recurrence is used in conjunction with normalized scores.</a:t>
            </a:r>
          </a:p>
          <a:p>
            <a:pPr marL="285750" indent="-285750">
              <a:lnSpc>
                <a:spcPct val="115000"/>
              </a:lnSpc>
              <a:spcAft>
                <a:spcPts val="1200"/>
              </a:spcAft>
              <a:buFont typeface="Arial" panose="020B0604020202020204" pitchFamily="34" charset="0"/>
              <a:buChar char="•"/>
            </a:pPr>
            <a:r>
              <a:rPr lang="en-US" sz="2400" dirty="0">
                <a:latin typeface="Arial" panose="020B0604020202020204"/>
              </a:rPr>
              <a:t>Five genes are selected as candidates for further investigation.</a:t>
            </a:r>
            <a:endParaRPr sz="2400" dirty="0">
              <a:latin typeface="Arial" panose="020B0604020202020204"/>
            </a:endParaRPr>
          </a:p>
        </p:txBody>
      </p:sp>
      <p:sp>
        <p:nvSpPr>
          <p:cNvPr id="11" name="TextBox 10"/>
          <p:cNvSpPr txBox="1"/>
          <p:nvPr/>
        </p:nvSpPr>
        <p:spPr>
          <a:xfrm>
            <a:off x="10332720" y="6382512"/>
            <a:ext cx="1005840" cy="169277"/>
          </a:xfrm>
          <a:prstGeom prst="rect">
            <a:avLst/>
          </a:prstGeom>
          <a:noFill/>
        </p:spPr>
        <p:txBody>
          <a:bodyPr wrap="square" lIns="0" tIns="0" rIns="0" bIns="0" anchor="t">
            <a:spAutoFit/>
          </a:bodyPr>
          <a:lstStyle/>
          <a:p>
            <a:pPr algn="r"/>
            <a:r>
              <a:rPr lang="en-US" sz="1100" b="1" dirty="0">
                <a:solidFill>
                  <a:srgbClr val="566A7B"/>
                </a:solidFill>
                <a:latin typeface="Arial" panose="020B0604020202020204"/>
              </a:rPr>
              <a:t>16</a:t>
            </a:r>
            <a:endParaRPr sz="1100" b="1" dirty="0">
              <a:solidFill>
                <a:srgbClr val="566A7B"/>
              </a:solidFill>
              <a:latin typeface="Arial" panose="020B0604020202020204"/>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3E63"/>
          </a:solidFill>
          <a:ln>
            <a:noFill/>
          </a:ln>
          <a:effectLst/>
        </p:spPr>
        <p:txBody>
          <a:bodyPr rtlCol="0" anchor="ctr"/>
          <a:lstStyle/>
          <a:p>
            <a:pPr algn="ctr"/>
            <a:endParaRPr/>
          </a:p>
        </p:txBody>
      </p:sp>
      <p:sp>
        <p:nvSpPr>
          <p:cNvPr id="4" name="Rectangle 3"/>
          <p:cNvSpPr/>
          <p:nvPr/>
        </p:nvSpPr>
        <p:spPr>
          <a:xfrm>
            <a:off x="822960" y="722091"/>
            <a:ext cx="822960" cy="45720"/>
          </a:xfrm>
          <a:prstGeom prst="rect">
            <a:avLst/>
          </a:prstGeom>
          <a:solidFill>
            <a:srgbClr val="E3AD31"/>
          </a:solidFill>
          <a:ln>
            <a:noFill/>
          </a:ln>
          <a:effectLst/>
        </p:spPr>
        <p:txBody>
          <a:bodyPr rtlCol="0" anchor="ctr"/>
          <a:lstStyle/>
          <a:p>
            <a:pPr algn="ctr"/>
            <a:endParaRPr/>
          </a:p>
        </p:txBody>
      </p:sp>
      <p:sp>
        <p:nvSpPr>
          <p:cNvPr id="8" name="TextBox 7"/>
          <p:cNvSpPr txBox="1"/>
          <p:nvPr/>
        </p:nvSpPr>
        <p:spPr>
          <a:xfrm>
            <a:off x="822960" y="875711"/>
            <a:ext cx="10332720" cy="4546886"/>
          </a:xfrm>
          <a:prstGeom prst="rect">
            <a:avLst/>
          </a:prstGeom>
          <a:noFill/>
        </p:spPr>
        <p:txBody>
          <a:bodyPr wrap="square" lIns="0" tIns="0" rIns="0" bIns="0">
            <a:spAutoFit/>
          </a:bodyPr>
          <a:lstStyle/>
          <a:p>
            <a:pPr>
              <a:lnSpc>
                <a:spcPct val="115000"/>
              </a:lnSpc>
              <a:spcAft>
                <a:spcPts val="2000"/>
              </a:spcAft>
            </a:pPr>
            <a:r>
              <a:rPr lang="en-US" sz="3200" b="1" u="sng" dirty="0">
                <a:solidFill>
                  <a:srgbClr val="102A3C"/>
                </a:solidFill>
              </a:rPr>
              <a:t>What is the reason to choose five genes rather than all 490?</a:t>
            </a:r>
          </a:p>
          <a:p>
            <a:pPr marL="285750" indent="-285750">
              <a:spcAft>
                <a:spcPts val="1200"/>
              </a:spcAft>
              <a:buFont typeface="Arial" panose="020B0604020202020204" pitchFamily="34" charset="0"/>
              <a:buChar char="•"/>
            </a:pPr>
            <a:r>
              <a:rPr lang="en-US" sz="2400" dirty="0">
                <a:solidFill>
                  <a:srgbClr val="102A3C"/>
                </a:solidFill>
                <a:latin typeface="Calibri" panose="020F0502020204030204" charset="0"/>
                <a:cs typeface="Calibri" panose="020F0502020204030204" charset="0"/>
              </a:rPr>
              <a:t>Five genes are simpler to analyze compared to 490 features.</a:t>
            </a:r>
          </a:p>
          <a:p>
            <a:pPr marL="285750" indent="-285750">
              <a:spcAft>
                <a:spcPts val="1200"/>
              </a:spcAft>
              <a:buFont typeface="Arial" panose="020B0604020202020204" pitchFamily="34" charset="0"/>
              <a:buChar char="•"/>
            </a:pPr>
            <a:r>
              <a:rPr lang="en-US" sz="2400" dirty="0">
                <a:solidFill>
                  <a:srgbClr val="102A3C"/>
                </a:solidFill>
                <a:latin typeface="Calibri" panose="020F0502020204030204" charset="0"/>
                <a:cs typeface="Calibri" panose="020F0502020204030204" charset="0"/>
              </a:rPr>
              <a:t>It makes the analysis simpler to understand.</a:t>
            </a:r>
          </a:p>
          <a:p>
            <a:pPr marL="285750" indent="-285750">
              <a:spcAft>
                <a:spcPts val="1200"/>
              </a:spcAft>
              <a:buFont typeface="Arial" panose="020B0604020202020204" pitchFamily="34" charset="0"/>
              <a:buChar char="•"/>
            </a:pPr>
            <a:r>
              <a:rPr lang="en-US" sz="2400" dirty="0">
                <a:solidFill>
                  <a:srgbClr val="102A3C"/>
                </a:solidFill>
                <a:latin typeface="Calibri" panose="020F0502020204030204" charset="0"/>
                <a:cs typeface="Calibri" panose="020F0502020204030204" charset="0"/>
              </a:rPr>
              <a:t>It decreases the number of input features by 98.98%.</a:t>
            </a:r>
          </a:p>
          <a:p>
            <a:pPr marL="285750" indent="-285750">
              <a:spcAft>
                <a:spcPts val="1200"/>
              </a:spcAft>
              <a:buFont typeface="Arial" panose="020B0604020202020204" pitchFamily="34" charset="0"/>
              <a:buChar char="•"/>
            </a:pPr>
            <a:r>
              <a:rPr lang="en-US" sz="2400" dirty="0">
                <a:solidFill>
                  <a:srgbClr val="102A3C"/>
                </a:solidFill>
                <a:latin typeface="Calibri" panose="020F0502020204030204" charset="0"/>
                <a:cs typeface="Calibri" panose="020F0502020204030204" charset="0"/>
              </a:rPr>
              <a:t>It enables scientists to concentrate on a manageable subset of candidates.</a:t>
            </a:r>
          </a:p>
          <a:p>
            <a:pPr marL="285750" indent="-285750">
              <a:spcAft>
                <a:spcPts val="1200"/>
              </a:spcAft>
              <a:buFont typeface="Arial" panose="020B0604020202020204" pitchFamily="34" charset="0"/>
              <a:buChar char="•"/>
            </a:pPr>
            <a:r>
              <a:rPr lang="en-US" sz="2400" dirty="0">
                <a:solidFill>
                  <a:srgbClr val="102A3C"/>
                </a:solidFill>
                <a:latin typeface="Calibri" panose="020F0502020204030204" charset="0"/>
                <a:cs typeface="Calibri" panose="020F0502020204030204" charset="0"/>
              </a:rPr>
              <a:t>But, on the other hand, a decrease in feature set means a loss of some valuable information and decreased classification efficiency.</a:t>
            </a:r>
          </a:p>
          <a:p>
            <a:pPr marL="285750" indent="-285750">
              <a:spcAft>
                <a:spcPts val="1200"/>
              </a:spcAft>
              <a:buFont typeface="Arial" panose="020B0604020202020204" pitchFamily="34" charset="0"/>
              <a:buChar char="•"/>
            </a:pPr>
            <a:r>
              <a:rPr lang="en-US" sz="2400" dirty="0">
                <a:solidFill>
                  <a:srgbClr val="102A3C"/>
                </a:solidFill>
                <a:latin typeface="Calibri" panose="020F0502020204030204" charset="0"/>
                <a:cs typeface="Calibri" panose="020F0502020204030204" charset="0"/>
              </a:rPr>
              <a:t>This fact is important to remember, because the five gene set is a concise scientific finding, but not a substitution for the whole feature set.</a:t>
            </a:r>
            <a:endParaRPr sz="2400" dirty="0">
              <a:solidFill>
                <a:srgbClr val="102A3C"/>
              </a:solidFill>
              <a:latin typeface="Calibri" panose="020F0502020204030204" charset="0"/>
              <a:cs typeface="Calibri" panose="020F0502020204030204" charset="0"/>
            </a:endParaRPr>
          </a:p>
        </p:txBody>
      </p:sp>
      <p:sp>
        <p:nvSpPr>
          <p:cNvPr id="5" name="TextBox 4"/>
          <p:cNvSpPr txBox="1"/>
          <p:nvPr/>
        </p:nvSpPr>
        <p:spPr>
          <a:xfrm>
            <a:off x="10332720" y="6382512"/>
            <a:ext cx="1005840" cy="169277"/>
          </a:xfrm>
          <a:prstGeom prst="rect">
            <a:avLst/>
          </a:prstGeom>
          <a:noFill/>
        </p:spPr>
        <p:txBody>
          <a:bodyPr wrap="square" lIns="0" tIns="0" rIns="0" bIns="0" anchor="t">
            <a:spAutoFit/>
          </a:bodyPr>
          <a:lstStyle/>
          <a:p>
            <a:pPr algn="r"/>
            <a:r>
              <a:rPr lang="en-US" sz="1100" b="1" dirty="0">
                <a:solidFill>
                  <a:srgbClr val="566A7B"/>
                </a:solidFill>
                <a:latin typeface="Arial" panose="020B0604020202020204"/>
              </a:rPr>
              <a:t>17</a:t>
            </a:r>
            <a:endParaRPr sz="1100" b="1" dirty="0">
              <a:solidFill>
                <a:srgbClr val="566A7B"/>
              </a:solidFill>
              <a:latin typeface="Arial" panose="020B0604020202020204"/>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3E63"/>
          </a:solidFill>
          <a:ln>
            <a:noFill/>
          </a:ln>
          <a:effectLst/>
        </p:spPr>
        <p:txBody>
          <a:bodyPr rtlCol="0" anchor="ctr"/>
          <a:lstStyle/>
          <a:p>
            <a:pPr algn="ctr"/>
            <a:endParaRPr/>
          </a:p>
        </p:txBody>
      </p:sp>
      <p:sp>
        <p:nvSpPr>
          <p:cNvPr id="4" name="Rectangle 3"/>
          <p:cNvSpPr/>
          <p:nvPr/>
        </p:nvSpPr>
        <p:spPr>
          <a:xfrm>
            <a:off x="822960" y="600834"/>
            <a:ext cx="822960" cy="45720"/>
          </a:xfrm>
          <a:prstGeom prst="rect">
            <a:avLst/>
          </a:prstGeom>
          <a:solidFill>
            <a:srgbClr val="E3AD31"/>
          </a:solidFill>
          <a:ln>
            <a:noFill/>
          </a:ln>
          <a:effectLst/>
        </p:spPr>
        <p:txBody>
          <a:bodyPr rtlCol="0" anchor="ctr"/>
          <a:lstStyle/>
          <a:p>
            <a:pPr algn="ctr"/>
            <a:endParaRPr/>
          </a:p>
        </p:txBody>
      </p:sp>
      <p:sp>
        <p:nvSpPr>
          <p:cNvPr id="6" name="Rectangle 5"/>
          <p:cNvSpPr/>
          <p:nvPr/>
        </p:nvSpPr>
        <p:spPr>
          <a:xfrm>
            <a:off x="822960" y="6263640"/>
            <a:ext cx="10515600" cy="10972"/>
          </a:xfrm>
          <a:prstGeom prst="rect">
            <a:avLst/>
          </a:prstGeom>
          <a:solidFill>
            <a:srgbClr val="D8E2E9"/>
          </a:solidFill>
          <a:ln>
            <a:noFill/>
          </a:ln>
          <a:effectLst/>
        </p:spPr>
        <p:txBody>
          <a:bodyPr rtlCol="0" anchor="ctr"/>
          <a:lstStyle/>
          <a:p>
            <a:pPr algn="ctr"/>
            <a:endParaRPr/>
          </a:p>
        </p:txBody>
      </p:sp>
      <p:sp>
        <p:nvSpPr>
          <p:cNvPr id="8" name="TextBox 7"/>
          <p:cNvSpPr txBox="1"/>
          <p:nvPr/>
        </p:nvSpPr>
        <p:spPr>
          <a:xfrm>
            <a:off x="800968" y="711359"/>
            <a:ext cx="10332720" cy="3272691"/>
          </a:xfrm>
          <a:prstGeom prst="rect">
            <a:avLst/>
          </a:prstGeom>
          <a:noFill/>
        </p:spPr>
        <p:txBody>
          <a:bodyPr wrap="square" lIns="0" tIns="0" rIns="0" bIns="0">
            <a:spAutoFit/>
          </a:bodyPr>
          <a:lstStyle/>
          <a:p>
            <a:pPr>
              <a:lnSpc>
                <a:spcPct val="100000"/>
              </a:lnSpc>
              <a:spcAft>
                <a:spcPts val="2000"/>
              </a:spcAft>
            </a:pPr>
            <a:r>
              <a:rPr lang="en-US" sz="3200" b="1" u="sng" dirty="0">
                <a:latin typeface="+mj-lt"/>
              </a:rPr>
              <a:t>Selected genes and their biological relevance</a:t>
            </a:r>
            <a:endParaRPr lang="en-US" sz="3200" b="1" u="sng" dirty="0">
              <a:solidFill>
                <a:srgbClr val="102A3C"/>
              </a:solidFill>
              <a:latin typeface="+mj-lt"/>
            </a:endParaRPr>
          </a:p>
          <a:p>
            <a:pPr>
              <a:lnSpc>
                <a:spcPct val="100000"/>
              </a:lnSpc>
              <a:spcAft>
                <a:spcPts val="1200"/>
              </a:spcAft>
            </a:pPr>
            <a:r>
              <a:rPr lang="en-US" sz="2400" dirty="0">
                <a:solidFill>
                  <a:srgbClr val="102A3C"/>
                </a:solidFill>
                <a:cs typeface="+mn-lt"/>
              </a:rPr>
              <a:t>The function of these genes in biology is related to cell growth, signaling or cell identity studies.</a:t>
            </a:r>
          </a:p>
          <a:p>
            <a:pPr>
              <a:lnSpc>
                <a:spcPct val="100000"/>
              </a:lnSpc>
              <a:spcAft>
                <a:spcPts val="1200"/>
              </a:spcAft>
            </a:pPr>
            <a:r>
              <a:rPr lang="en-US" sz="2400" dirty="0">
                <a:solidFill>
                  <a:srgbClr val="102A3C"/>
                </a:solidFill>
                <a:cs typeface="+mn-lt"/>
              </a:rPr>
              <a:t>Their inclusion in this project means that they were identified as good candidates based on the feature-selection method used.</a:t>
            </a:r>
          </a:p>
          <a:p>
            <a:pPr>
              <a:lnSpc>
                <a:spcPct val="100000"/>
              </a:lnSpc>
              <a:spcAft>
                <a:spcPts val="1200"/>
              </a:spcAft>
            </a:pPr>
            <a:r>
              <a:rPr lang="en-US" sz="2400" dirty="0">
                <a:solidFill>
                  <a:srgbClr val="102A3C"/>
                </a:solidFill>
                <a:cs typeface="+mn-lt"/>
              </a:rPr>
              <a:t>This does not imply that all the five genes individually contribute to breast cancer or predict survival</a:t>
            </a:r>
            <a:r>
              <a:rPr lang="en-US" sz="2400" b="1" u="sng" dirty="0">
                <a:solidFill>
                  <a:srgbClr val="102A3C"/>
                </a:solidFill>
                <a:cs typeface="+mn-lt"/>
              </a:rPr>
              <a:t>.</a:t>
            </a:r>
            <a:endParaRPr sz="2400" b="1" u="sng" dirty="0">
              <a:solidFill>
                <a:srgbClr val="102A3C"/>
              </a:solidFill>
              <a:cs typeface="+mn-lt"/>
            </a:endParaRPr>
          </a:p>
        </p:txBody>
      </p:sp>
      <p:sp>
        <p:nvSpPr>
          <p:cNvPr id="9" name="TextBox 8"/>
          <p:cNvSpPr txBox="1"/>
          <p:nvPr/>
        </p:nvSpPr>
        <p:spPr>
          <a:xfrm>
            <a:off x="10332720" y="6382512"/>
            <a:ext cx="1005840" cy="169277"/>
          </a:xfrm>
          <a:prstGeom prst="rect">
            <a:avLst/>
          </a:prstGeom>
          <a:noFill/>
        </p:spPr>
        <p:txBody>
          <a:bodyPr wrap="square" lIns="0" tIns="0" rIns="0" bIns="0" anchor="t">
            <a:spAutoFit/>
          </a:bodyPr>
          <a:lstStyle/>
          <a:p>
            <a:pPr algn="r"/>
            <a:r>
              <a:rPr sz="1100" b="1" dirty="0">
                <a:solidFill>
                  <a:srgbClr val="566A7B"/>
                </a:solidFill>
                <a:latin typeface="Arial" panose="020B0604020202020204"/>
              </a:rPr>
              <a:t>1</a:t>
            </a:r>
            <a:r>
              <a:rPr lang="en-US" sz="1100" b="1" dirty="0">
                <a:solidFill>
                  <a:srgbClr val="566A7B"/>
                </a:solidFill>
                <a:latin typeface="Arial" panose="020B0604020202020204"/>
              </a:rPr>
              <a:t>8</a:t>
            </a:r>
            <a:endParaRPr sz="1100" b="1" dirty="0">
              <a:solidFill>
                <a:srgbClr val="566A7B"/>
              </a:solidFill>
              <a:latin typeface="Arial" panose="020B0604020202020204"/>
            </a:endParaRPr>
          </a:p>
        </p:txBody>
      </p:sp>
      <p:pic>
        <p:nvPicPr>
          <p:cNvPr id="13" name="Picture 12"/>
          <p:cNvPicPr>
            <a:picLocks noChangeAspect="1"/>
          </p:cNvPicPr>
          <p:nvPr/>
        </p:nvPicPr>
        <p:blipFill>
          <a:blip r:embed="rId3"/>
          <a:stretch>
            <a:fillRect/>
          </a:stretch>
        </p:blipFill>
        <p:spPr>
          <a:xfrm>
            <a:off x="800735" y="4070798"/>
            <a:ext cx="10332720" cy="2579089"/>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3E63"/>
          </a:solidFill>
          <a:ln>
            <a:noFill/>
          </a:ln>
          <a:effectLst/>
        </p:spPr>
        <p:txBody>
          <a:bodyPr rtlCol="0" anchor="ctr"/>
          <a:lstStyle/>
          <a:p>
            <a:pPr algn="ctr"/>
            <a:endParaRPr/>
          </a:p>
        </p:txBody>
      </p:sp>
      <p:sp>
        <p:nvSpPr>
          <p:cNvPr id="3" name="TextBox 2"/>
          <p:cNvSpPr txBox="1"/>
          <p:nvPr/>
        </p:nvSpPr>
        <p:spPr>
          <a:xfrm>
            <a:off x="606208" y="461695"/>
            <a:ext cx="10515600" cy="984885"/>
          </a:xfrm>
          <a:prstGeom prst="rect">
            <a:avLst/>
          </a:prstGeom>
          <a:noFill/>
        </p:spPr>
        <p:txBody>
          <a:bodyPr wrap="square" lIns="0" tIns="0" rIns="0" bIns="0" anchor="t">
            <a:spAutoFit/>
          </a:bodyPr>
          <a:lstStyle/>
          <a:p>
            <a:r>
              <a:rPr lang="en-US" sz="3200" b="1" u="sng" dirty="0">
                <a:latin typeface="+mj-lt"/>
              </a:rPr>
              <a:t>Survival Analysis</a:t>
            </a:r>
          </a:p>
          <a:p>
            <a:pPr algn="l"/>
            <a:endParaRPr lang="en-US" sz="3200" b="1" u="sng" dirty="0">
              <a:solidFill>
                <a:srgbClr val="003E63"/>
              </a:solidFill>
              <a:latin typeface="+mj-lt"/>
            </a:endParaRPr>
          </a:p>
        </p:txBody>
      </p:sp>
      <p:sp>
        <p:nvSpPr>
          <p:cNvPr id="4" name="Rectangle 3"/>
          <p:cNvSpPr/>
          <p:nvPr/>
        </p:nvSpPr>
        <p:spPr>
          <a:xfrm>
            <a:off x="623570" y="1144511"/>
            <a:ext cx="822960" cy="45720"/>
          </a:xfrm>
          <a:prstGeom prst="rect">
            <a:avLst/>
          </a:prstGeom>
          <a:solidFill>
            <a:srgbClr val="E3AD31"/>
          </a:solidFill>
          <a:ln>
            <a:noFill/>
          </a:ln>
          <a:effectLst/>
        </p:spPr>
        <p:txBody>
          <a:bodyPr rtlCol="0" anchor="ctr"/>
          <a:lstStyle/>
          <a:p>
            <a:pPr algn="ctr"/>
            <a:endParaRPr/>
          </a:p>
        </p:txBody>
      </p:sp>
      <p:sp>
        <p:nvSpPr>
          <p:cNvPr id="10" name="TextBox 9"/>
          <p:cNvSpPr txBox="1"/>
          <p:nvPr/>
        </p:nvSpPr>
        <p:spPr>
          <a:xfrm>
            <a:off x="10332720" y="6382512"/>
            <a:ext cx="1005840" cy="169277"/>
          </a:xfrm>
          <a:prstGeom prst="rect">
            <a:avLst/>
          </a:prstGeom>
          <a:noFill/>
        </p:spPr>
        <p:txBody>
          <a:bodyPr wrap="square" lIns="0" tIns="0" rIns="0" bIns="0" anchor="t">
            <a:spAutoFit/>
          </a:bodyPr>
          <a:lstStyle/>
          <a:p>
            <a:pPr algn="r"/>
            <a:r>
              <a:rPr sz="1100" b="1" dirty="0">
                <a:solidFill>
                  <a:srgbClr val="566A7B"/>
                </a:solidFill>
                <a:latin typeface="Arial" panose="020B0604020202020204"/>
              </a:rPr>
              <a:t>1</a:t>
            </a:r>
            <a:r>
              <a:rPr lang="en-US" sz="1100" b="1" dirty="0">
                <a:solidFill>
                  <a:srgbClr val="566A7B"/>
                </a:solidFill>
                <a:latin typeface="Arial" panose="020B0604020202020204"/>
              </a:rPr>
              <a:t>9</a:t>
            </a:r>
            <a:endParaRPr sz="1100" b="1" dirty="0">
              <a:solidFill>
                <a:srgbClr val="566A7B"/>
              </a:solidFill>
              <a:latin typeface="Arial" panose="020B0604020202020204"/>
            </a:endParaRPr>
          </a:p>
        </p:txBody>
      </p:sp>
      <p:sp>
        <p:nvSpPr>
          <p:cNvPr id="13" name="Title 10"/>
          <p:cNvSpPr>
            <a:spLocks noGrp="1"/>
          </p:cNvSpPr>
          <p:nvPr>
            <p:ph idx="1"/>
          </p:nvPr>
        </p:nvSpPr>
        <p:spPr>
          <a:xfrm>
            <a:off x="457200" y="1446580"/>
            <a:ext cx="11093450" cy="4679583"/>
          </a:xfrm>
        </p:spPr>
        <p:txBody>
          <a:bodyPr/>
          <a:lstStyle/>
          <a:p>
            <a:pPr marL="0" indent="0">
              <a:buNone/>
            </a:pPr>
            <a:r>
              <a:rPr lang="en-US" sz="2800" b="1" u="sng" dirty="0"/>
              <a:t>Definition of survival analysis</a:t>
            </a:r>
          </a:p>
          <a:p>
            <a:r>
              <a:rPr lang="en-US" sz="2400" dirty="0"/>
              <a:t>Survival analysis deals with the duration until a specific event happens.</a:t>
            </a:r>
          </a:p>
          <a:p>
            <a:r>
              <a:rPr lang="en-US" sz="2400" dirty="0"/>
              <a:t>In the current project, the survival analysis looks at survival rates of patients. </a:t>
            </a:r>
          </a:p>
          <a:p>
            <a:r>
              <a:rPr lang="en-US" sz="2400" dirty="0"/>
              <a:t>The analysis attempts to find out if the chosen genes provide any additional information to clinical variables. </a:t>
            </a:r>
          </a:p>
          <a:p>
            <a:r>
              <a:rPr lang="en-US" sz="2400" dirty="0"/>
              <a:t>This is distinct from the prediction of breast cancer subtypes.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3E63"/>
          </a:solidFill>
          <a:ln>
            <a:noFill/>
          </a:ln>
          <a:effectLst/>
        </p:spPr>
        <p:txBody>
          <a:bodyPr rtlCol="0" anchor="ctr"/>
          <a:lstStyle/>
          <a:p>
            <a:pPr algn="ctr"/>
            <a:endParaRPr/>
          </a:p>
        </p:txBody>
      </p:sp>
      <p:sp>
        <p:nvSpPr>
          <p:cNvPr id="3" name="TextBox 2"/>
          <p:cNvSpPr txBox="1"/>
          <p:nvPr/>
        </p:nvSpPr>
        <p:spPr>
          <a:xfrm>
            <a:off x="718788" y="731837"/>
            <a:ext cx="10515600" cy="492443"/>
          </a:xfrm>
          <a:prstGeom prst="rect">
            <a:avLst/>
          </a:prstGeom>
          <a:noFill/>
        </p:spPr>
        <p:txBody>
          <a:bodyPr wrap="square" lIns="0" tIns="0" rIns="0" bIns="0" anchor="t">
            <a:spAutoFit/>
          </a:bodyPr>
          <a:lstStyle/>
          <a:p>
            <a:r>
              <a:rPr lang="en-US" sz="3200" dirty="0"/>
              <a:t> </a:t>
            </a:r>
            <a:r>
              <a:rPr lang="en-US" sz="3200" b="1" u="sng" dirty="0"/>
              <a:t>Cox proportional-hazards model</a:t>
            </a:r>
            <a:endParaRPr lang="en-US" sz="3200" b="1" u="sng" dirty="0">
              <a:solidFill>
                <a:srgbClr val="003E63"/>
              </a:solidFill>
              <a:latin typeface="Arial" panose="020B0604020202020204"/>
            </a:endParaRPr>
          </a:p>
        </p:txBody>
      </p:sp>
      <p:sp>
        <p:nvSpPr>
          <p:cNvPr id="4" name="Rectangle 3"/>
          <p:cNvSpPr/>
          <p:nvPr/>
        </p:nvSpPr>
        <p:spPr>
          <a:xfrm>
            <a:off x="718788" y="578696"/>
            <a:ext cx="822960" cy="45720"/>
          </a:xfrm>
          <a:prstGeom prst="rect">
            <a:avLst/>
          </a:prstGeom>
          <a:solidFill>
            <a:srgbClr val="E3AD31"/>
          </a:solidFill>
          <a:ln>
            <a:noFill/>
          </a:ln>
          <a:effectLst/>
        </p:spPr>
        <p:txBody>
          <a:bodyPr rtlCol="0" anchor="ctr"/>
          <a:lstStyle/>
          <a:p>
            <a:pPr algn="ctr"/>
            <a:endParaRPr/>
          </a:p>
        </p:txBody>
      </p:sp>
      <p:sp>
        <p:nvSpPr>
          <p:cNvPr id="10" name="TextBox 9"/>
          <p:cNvSpPr txBox="1"/>
          <p:nvPr/>
        </p:nvSpPr>
        <p:spPr>
          <a:xfrm>
            <a:off x="10332720" y="6382512"/>
            <a:ext cx="1005840" cy="169277"/>
          </a:xfrm>
          <a:prstGeom prst="rect">
            <a:avLst/>
          </a:prstGeom>
          <a:noFill/>
        </p:spPr>
        <p:txBody>
          <a:bodyPr wrap="square" lIns="0" tIns="0" rIns="0" bIns="0" anchor="t">
            <a:spAutoFit/>
          </a:bodyPr>
          <a:lstStyle/>
          <a:p>
            <a:pPr algn="r"/>
            <a:r>
              <a:rPr sz="1100" b="1" dirty="0">
                <a:solidFill>
                  <a:srgbClr val="566A7B"/>
                </a:solidFill>
                <a:latin typeface="Arial" panose="020B0604020202020204"/>
              </a:rPr>
              <a:t>2</a:t>
            </a:r>
            <a:r>
              <a:rPr lang="en-US" sz="1100" b="1" dirty="0">
                <a:solidFill>
                  <a:srgbClr val="566A7B"/>
                </a:solidFill>
                <a:latin typeface="Arial" panose="020B0604020202020204"/>
              </a:rPr>
              <a:t>0</a:t>
            </a:r>
            <a:endParaRPr sz="1100" b="1" dirty="0">
              <a:solidFill>
                <a:srgbClr val="566A7B"/>
              </a:solidFill>
              <a:latin typeface="Arial" panose="020B0604020202020204"/>
            </a:endParaRPr>
          </a:p>
        </p:txBody>
      </p:sp>
      <p:sp>
        <p:nvSpPr>
          <p:cNvPr id="13" name="Title 10"/>
          <p:cNvSpPr>
            <a:spLocks noGrp="1"/>
          </p:cNvSpPr>
          <p:nvPr>
            <p:ph idx="1"/>
          </p:nvPr>
        </p:nvSpPr>
        <p:spPr>
          <a:xfrm>
            <a:off x="805598" y="1446580"/>
            <a:ext cx="11093450" cy="4679583"/>
          </a:xfrm>
        </p:spPr>
        <p:txBody>
          <a:bodyPr>
            <a:normAutofit/>
          </a:bodyPr>
          <a:lstStyle/>
          <a:p>
            <a:r>
              <a:rPr lang="en-US" sz="2400" dirty="0"/>
              <a:t>The Cox model determines the relationship between the variables and hazard, which is the event rate at any point in time.</a:t>
            </a:r>
          </a:p>
          <a:p>
            <a:r>
              <a:rPr lang="en-US" sz="2400" dirty="0"/>
              <a:t>The first model is based on clinical parameters.</a:t>
            </a:r>
          </a:p>
          <a:p>
            <a:r>
              <a:rPr lang="en-US" sz="2400" dirty="0"/>
              <a:t>The second model includes both the five chosen genes and the clinical parameters.</a:t>
            </a:r>
          </a:p>
          <a:p>
            <a:r>
              <a:rPr lang="en-US" sz="2400" dirty="0"/>
              <a:t>Comparison of the models is done via the concordance index.</a:t>
            </a:r>
          </a:p>
          <a:p>
            <a:r>
              <a:rPr lang="en-US" sz="2400" dirty="0"/>
              <a:t>Coefficients of the genes along with their significance are also analyzed.</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3E63"/>
          </a:solidFill>
          <a:ln>
            <a:noFill/>
          </a:ln>
          <a:effectLst/>
        </p:spPr>
        <p:txBody>
          <a:bodyPr rtlCol="0" anchor="ctr"/>
          <a:lstStyle/>
          <a:p>
            <a:pPr algn="ctr"/>
            <a:endParaRPr/>
          </a:p>
        </p:txBody>
      </p:sp>
      <p:sp>
        <p:nvSpPr>
          <p:cNvPr id="3" name="TextBox 2"/>
          <p:cNvSpPr txBox="1"/>
          <p:nvPr/>
        </p:nvSpPr>
        <p:spPr>
          <a:xfrm>
            <a:off x="697831" y="674627"/>
            <a:ext cx="10515600" cy="492443"/>
          </a:xfrm>
          <a:prstGeom prst="rect">
            <a:avLst/>
          </a:prstGeom>
          <a:noFill/>
        </p:spPr>
        <p:txBody>
          <a:bodyPr wrap="square" lIns="0" tIns="0" rIns="0" bIns="0" anchor="t">
            <a:spAutoFit/>
          </a:bodyPr>
          <a:lstStyle/>
          <a:p>
            <a:r>
              <a:rPr lang="en-US" sz="3200" b="1" u="sng" dirty="0"/>
              <a:t>Concordance Index (C-index)</a:t>
            </a:r>
            <a:endParaRPr lang="en-US" sz="3200" b="1" u="sng" dirty="0">
              <a:solidFill>
                <a:srgbClr val="003E63"/>
              </a:solidFill>
              <a:latin typeface="Arial" panose="020B0604020202020204"/>
            </a:endParaRPr>
          </a:p>
        </p:txBody>
      </p:sp>
      <p:sp>
        <p:nvSpPr>
          <p:cNvPr id="4" name="Rectangle 3"/>
          <p:cNvSpPr/>
          <p:nvPr/>
        </p:nvSpPr>
        <p:spPr>
          <a:xfrm>
            <a:off x="728504" y="544068"/>
            <a:ext cx="822960" cy="45720"/>
          </a:xfrm>
          <a:prstGeom prst="rect">
            <a:avLst/>
          </a:prstGeom>
          <a:solidFill>
            <a:srgbClr val="E3AD31"/>
          </a:solidFill>
          <a:ln>
            <a:noFill/>
          </a:ln>
          <a:effectLst/>
        </p:spPr>
        <p:txBody>
          <a:bodyPr rtlCol="0" anchor="ctr"/>
          <a:lstStyle/>
          <a:p>
            <a:pPr algn="ctr"/>
            <a:endParaRPr/>
          </a:p>
        </p:txBody>
      </p:sp>
      <p:sp>
        <p:nvSpPr>
          <p:cNvPr id="10" name="TextBox 9"/>
          <p:cNvSpPr txBox="1"/>
          <p:nvPr/>
        </p:nvSpPr>
        <p:spPr>
          <a:xfrm>
            <a:off x="10332720" y="6382512"/>
            <a:ext cx="1005840" cy="169277"/>
          </a:xfrm>
          <a:prstGeom prst="rect">
            <a:avLst/>
          </a:prstGeom>
          <a:noFill/>
        </p:spPr>
        <p:txBody>
          <a:bodyPr wrap="square" lIns="0" tIns="0" rIns="0" bIns="0" anchor="t">
            <a:spAutoFit/>
          </a:bodyPr>
          <a:lstStyle/>
          <a:p>
            <a:pPr algn="r"/>
            <a:r>
              <a:rPr sz="1100" b="1" dirty="0">
                <a:solidFill>
                  <a:srgbClr val="566A7B"/>
                </a:solidFill>
                <a:latin typeface="Arial" panose="020B0604020202020204"/>
              </a:rPr>
              <a:t>2</a:t>
            </a:r>
            <a:r>
              <a:rPr lang="en-US" sz="1100" b="1" dirty="0">
                <a:solidFill>
                  <a:srgbClr val="566A7B"/>
                </a:solidFill>
                <a:latin typeface="Arial" panose="020B0604020202020204"/>
              </a:rPr>
              <a:t>1</a:t>
            </a:r>
            <a:endParaRPr sz="1100" b="1" dirty="0">
              <a:solidFill>
                <a:srgbClr val="566A7B"/>
              </a:solidFill>
              <a:latin typeface="Arial" panose="020B0604020202020204"/>
            </a:endParaRPr>
          </a:p>
        </p:txBody>
      </p:sp>
      <p:sp>
        <p:nvSpPr>
          <p:cNvPr id="13" name="Title 10"/>
          <p:cNvSpPr>
            <a:spLocks noGrp="1"/>
          </p:cNvSpPr>
          <p:nvPr>
            <p:ph idx="1"/>
          </p:nvPr>
        </p:nvSpPr>
        <p:spPr>
          <a:xfrm>
            <a:off x="697831" y="1396458"/>
            <a:ext cx="11093450" cy="4679583"/>
          </a:xfrm>
        </p:spPr>
        <p:txBody>
          <a:bodyPr>
            <a:normAutofit/>
          </a:bodyPr>
          <a:lstStyle/>
          <a:p>
            <a:r>
              <a:rPr lang="en-US" sz="2400" dirty="0"/>
              <a:t>The C-index reflects how accurately a survival model can rank-order patients based on their survival experience.</a:t>
            </a:r>
          </a:p>
          <a:p>
            <a:r>
              <a:rPr lang="en-US" sz="2400" dirty="0"/>
              <a:t>A value near 0.5 suggests that ranking accuracy is no better than that of random ranking.</a:t>
            </a:r>
          </a:p>
          <a:p>
            <a:r>
              <a:rPr lang="en-US" sz="2400" dirty="0"/>
              <a:t>The closer the value is to 1, the more accurate the ranking.</a:t>
            </a:r>
          </a:p>
          <a:p>
            <a:r>
              <a:rPr lang="en-US" sz="2400" dirty="0"/>
              <a:t>This index does not indicate how long a patient will survive.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3E63"/>
          </a:solidFill>
          <a:ln>
            <a:noFill/>
          </a:ln>
          <a:effectLst/>
        </p:spPr>
        <p:txBody>
          <a:bodyPr rtlCol="0" anchor="ctr"/>
          <a:lstStyle/>
          <a:p>
            <a:pPr algn="ctr"/>
            <a:endParaRPr/>
          </a:p>
        </p:txBody>
      </p:sp>
      <p:sp>
        <p:nvSpPr>
          <p:cNvPr id="3" name="TextBox 2"/>
          <p:cNvSpPr txBox="1"/>
          <p:nvPr/>
        </p:nvSpPr>
        <p:spPr>
          <a:xfrm>
            <a:off x="822960" y="677424"/>
            <a:ext cx="10515600" cy="492443"/>
          </a:xfrm>
          <a:prstGeom prst="rect">
            <a:avLst/>
          </a:prstGeom>
          <a:noFill/>
        </p:spPr>
        <p:txBody>
          <a:bodyPr wrap="square" lIns="0" tIns="0" rIns="0" bIns="0" anchor="t">
            <a:spAutoFit/>
          </a:bodyPr>
          <a:lstStyle/>
          <a:p>
            <a:r>
              <a:rPr lang="en-US" sz="3200" b="1" u="sng" dirty="0"/>
              <a:t>Kaplan-Meier estimator</a:t>
            </a:r>
            <a:endParaRPr lang="en-US" sz="3200" b="1" u="sng" dirty="0">
              <a:solidFill>
                <a:srgbClr val="003E63"/>
              </a:solidFill>
              <a:latin typeface="Arial" panose="020B0604020202020204"/>
            </a:endParaRPr>
          </a:p>
        </p:txBody>
      </p:sp>
      <p:sp>
        <p:nvSpPr>
          <p:cNvPr id="4" name="Rectangle 3"/>
          <p:cNvSpPr/>
          <p:nvPr/>
        </p:nvSpPr>
        <p:spPr>
          <a:xfrm>
            <a:off x="822960" y="570360"/>
            <a:ext cx="822960" cy="45720"/>
          </a:xfrm>
          <a:prstGeom prst="rect">
            <a:avLst/>
          </a:prstGeom>
          <a:solidFill>
            <a:srgbClr val="E3AD31"/>
          </a:solidFill>
          <a:ln>
            <a:noFill/>
          </a:ln>
          <a:effectLst/>
        </p:spPr>
        <p:txBody>
          <a:bodyPr rtlCol="0" anchor="ctr"/>
          <a:lstStyle/>
          <a:p>
            <a:pPr algn="ctr"/>
            <a:endParaRPr/>
          </a:p>
        </p:txBody>
      </p:sp>
      <p:sp>
        <p:nvSpPr>
          <p:cNvPr id="10" name="TextBox 9"/>
          <p:cNvSpPr txBox="1"/>
          <p:nvPr/>
        </p:nvSpPr>
        <p:spPr>
          <a:xfrm>
            <a:off x="10332720" y="6382512"/>
            <a:ext cx="1005840" cy="169277"/>
          </a:xfrm>
          <a:prstGeom prst="rect">
            <a:avLst/>
          </a:prstGeom>
          <a:noFill/>
        </p:spPr>
        <p:txBody>
          <a:bodyPr wrap="square" lIns="0" tIns="0" rIns="0" bIns="0" anchor="t">
            <a:spAutoFit/>
          </a:bodyPr>
          <a:lstStyle/>
          <a:p>
            <a:pPr algn="r"/>
            <a:r>
              <a:rPr lang="en-US" sz="1100" b="1" dirty="0">
                <a:solidFill>
                  <a:srgbClr val="566A7B"/>
                </a:solidFill>
                <a:latin typeface="Arial" panose="020B0604020202020204"/>
              </a:rPr>
              <a:t>2</a:t>
            </a:r>
            <a:r>
              <a:rPr sz="1100" b="1" dirty="0">
                <a:solidFill>
                  <a:srgbClr val="566A7B"/>
                </a:solidFill>
                <a:latin typeface="Arial" panose="020B0604020202020204"/>
              </a:rPr>
              <a:t>2</a:t>
            </a:r>
          </a:p>
        </p:txBody>
      </p:sp>
      <p:sp>
        <p:nvSpPr>
          <p:cNvPr id="13" name="Title 10"/>
          <p:cNvSpPr>
            <a:spLocks noGrp="1"/>
          </p:cNvSpPr>
          <p:nvPr>
            <p:ph idx="1"/>
          </p:nvPr>
        </p:nvSpPr>
        <p:spPr>
          <a:xfrm>
            <a:off x="697831" y="1427536"/>
            <a:ext cx="11093450" cy="4679583"/>
          </a:xfrm>
        </p:spPr>
        <p:txBody>
          <a:bodyPr>
            <a:normAutofit/>
          </a:bodyPr>
          <a:lstStyle/>
          <a:p>
            <a:r>
              <a:rPr lang="en-US" sz="2400" dirty="0"/>
              <a:t>The Kaplan-Meier estimator computes an estimated probability of survival without events with respect to time.</a:t>
            </a:r>
          </a:p>
          <a:p>
            <a:r>
              <a:rPr lang="en-US" sz="2400" dirty="0"/>
              <a:t>The project plots survival curves for those patients with relatively high and low expression of the genes chosen.</a:t>
            </a:r>
          </a:p>
          <a:p>
            <a:r>
              <a:rPr lang="en-US" sz="2400" dirty="0"/>
              <a:t>The genes are separated into high and low expression groups based on the median of the cohort.</a:t>
            </a:r>
          </a:p>
          <a:p>
            <a:r>
              <a:rPr lang="en-US" sz="2400" dirty="0"/>
              <a:t>This helps visualize the potential differences between the groups.</a:t>
            </a:r>
          </a:p>
          <a:p>
            <a:r>
              <a:rPr lang="en-US" sz="2400" dirty="0"/>
              <a:t>The difference observed visually does not make it statistically significant.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10665230" y="6551789"/>
            <a:ext cx="1005840" cy="169277"/>
          </a:xfrm>
          <a:prstGeom prst="rect">
            <a:avLst/>
          </a:prstGeom>
          <a:noFill/>
        </p:spPr>
        <p:txBody>
          <a:bodyPr wrap="square" lIns="0" tIns="0" rIns="0" bIns="0" anchor="t">
            <a:spAutoFit/>
          </a:bodyPr>
          <a:lstStyle/>
          <a:p>
            <a:pPr algn="r"/>
            <a:r>
              <a:rPr lang="en-US" sz="1100" b="1" dirty="0">
                <a:solidFill>
                  <a:srgbClr val="566A7B"/>
                </a:solidFill>
                <a:latin typeface="Arial" panose="020B0604020202020204"/>
              </a:rPr>
              <a:t>23</a:t>
            </a:r>
            <a:endParaRPr sz="1100" b="1" dirty="0">
              <a:solidFill>
                <a:srgbClr val="566A7B"/>
              </a:solidFill>
              <a:latin typeface="Arial" panose="020B0604020202020204"/>
            </a:endParaRPr>
          </a:p>
        </p:txBody>
      </p:sp>
      <p:sp>
        <p:nvSpPr>
          <p:cNvPr id="2" name="Text 0"/>
          <p:cNvSpPr txBox="1"/>
          <p:nvPr/>
        </p:nvSpPr>
        <p:spPr>
          <a:xfrm>
            <a:off x="457200" y="201168"/>
            <a:ext cx="11274552" cy="594360"/>
          </a:xfrm>
          <a:prstGeom prst="rect">
            <a:avLst/>
          </a:prstGeom>
          <a:noFill/>
        </p:spPr>
        <p:txBody>
          <a:bodyPr wrap="square" lIns="0" tIns="0" rIns="0" bIns="0" rtlCol="0" anchor="ct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sz="3200" b="1" u="sng" dirty="0">
                <a:solidFill>
                  <a:srgbClr val="000000"/>
                </a:solidFill>
                <a:latin typeface="Calibri" panose="020F0502020204030204" charset="0"/>
                <a:ea typeface="Calibri" panose="020F0502020204030204" pitchFamily="34" charset="-122"/>
                <a:cs typeface="Calibri" panose="020F0502020204030204" pitchFamily="34" charset="-120"/>
              </a:rPr>
              <a:t>Gene Expression and Overall Survival</a:t>
            </a:r>
            <a:endParaRPr lang="en-US" sz="3200" b="1" u="sng" dirty="0"/>
          </a:p>
        </p:txBody>
      </p:sp>
      <p:sp>
        <p:nvSpPr>
          <p:cNvPr id="3" name="Text 0"/>
          <p:cNvSpPr txBox="1"/>
          <p:nvPr/>
        </p:nvSpPr>
        <p:spPr>
          <a:xfrm>
            <a:off x="457200" y="804672"/>
            <a:ext cx="11274552" cy="420624"/>
          </a:xfrm>
          <a:prstGeom prst="rect">
            <a:avLst/>
          </a:prstGeom>
          <a:noFill/>
        </p:spPr>
        <p:txBody>
          <a:bodyPr wrap="square" lIns="0" tIns="0" rIns="0" bIns="0" rtlCol="0" anchor="ctr"/>
          <a:lst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marL="0" indent="0">
              <a:buFont typeface="Arial" panose="020B0604020202020204"/>
              <a:buNone/>
            </a:pPr>
            <a:r>
              <a:rPr lang="en-US" sz="2800" dirty="0">
                <a:solidFill>
                  <a:srgbClr val="000000"/>
                </a:solidFill>
                <a:latin typeface="Calibri" panose="020F0502020204030204" charset="0"/>
                <a:ea typeface="Calibri" panose="020F0502020204030204" pitchFamily="34" charset="-122"/>
                <a:cs typeface="Calibri" panose="020F0502020204030204" pitchFamily="34" charset="-120"/>
              </a:rPr>
              <a:t>High vs Low expression of EGFR, CDK1, GATA3, ERBB2 and ERBB3</a:t>
            </a:r>
            <a:endParaRPr lang="en-US" sz="2800" dirty="0"/>
          </a:p>
        </p:txBody>
      </p:sp>
      <p:pic>
        <p:nvPicPr>
          <p:cNvPr id="4" name="km_egfr" descr="Kaplan-Meier plot of overall survival for EGFR High vs Low"/>
          <p:cNvPicPr>
            <a:picLocks noChangeAspect="1"/>
          </p:cNvPicPr>
          <p:nvPr/>
        </p:nvPicPr>
        <p:blipFill>
          <a:blip r:embed="rId2"/>
          <a:stretch>
            <a:fillRect/>
          </a:stretch>
        </p:blipFill>
        <p:spPr>
          <a:xfrm>
            <a:off x="457200" y="1325880"/>
            <a:ext cx="3566160" cy="2514600"/>
          </a:xfrm>
          <a:prstGeom prst="rect">
            <a:avLst/>
          </a:prstGeom>
        </p:spPr>
      </p:pic>
      <p:pic>
        <p:nvPicPr>
          <p:cNvPr id="5" name="km_cdk1" descr="Kaplan-Meier plot of overall survival for CDK1 High vs Low"/>
          <p:cNvPicPr>
            <a:picLocks noChangeAspect="1"/>
          </p:cNvPicPr>
          <p:nvPr/>
        </p:nvPicPr>
        <p:blipFill>
          <a:blip r:embed="rId3"/>
          <a:stretch>
            <a:fillRect/>
          </a:stretch>
        </p:blipFill>
        <p:spPr>
          <a:xfrm>
            <a:off x="4311396" y="1325880"/>
            <a:ext cx="3566160" cy="2514600"/>
          </a:xfrm>
          <a:prstGeom prst="rect">
            <a:avLst/>
          </a:prstGeom>
        </p:spPr>
      </p:pic>
      <p:pic>
        <p:nvPicPr>
          <p:cNvPr id="6" name="km_gata3" descr="Kaplan-Meier plot of overall survival for GATA3 High vs Low"/>
          <p:cNvPicPr>
            <a:picLocks noChangeAspect="1"/>
          </p:cNvPicPr>
          <p:nvPr/>
        </p:nvPicPr>
        <p:blipFill>
          <a:blip r:embed="rId4"/>
          <a:stretch>
            <a:fillRect/>
          </a:stretch>
        </p:blipFill>
        <p:spPr>
          <a:xfrm>
            <a:off x="8165592" y="1325880"/>
            <a:ext cx="3566160" cy="2514600"/>
          </a:xfrm>
          <a:prstGeom prst="rect">
            <a:avLst/>
          </a:prstGeom>
        </p:spPr>
      </p:pic>
      <p:pic>
        <p:nvPicPr>
          <p:cNvPr id="7" name="km_erbb2" descr="Kaplan-Meier plot of overall survival for ERBB2 High vs Low"/>
          <p:cNvPicPr>
            <a:picLocks noChangeAspect="1"/>
          </p:cNvPicPr>
          <p:nvPr/>
        </p:nvPicPr>
        <p:blipFill>
          <a:blip r:embed="rId5"/>
          <a:stretch>
            <a:fillRect/>
          </a:stretch>
        </p:blipFill>
        <p:spPr>
          <a:xfrm>
            <a:off x="457200" y="3950208"/>
            <a:ext cx="3566160" cy="2514600"/>
          </a:xfrm>
          <a:prstGeom prst="rect">
            <a:avLst/>
          </a:prstGeom>
        </p:spPr>
      </p:pic>
      <p:pic>
        <p:nvPicPr>
          <p:cNvPr id="9" name="km_erbb3" descr="Kaplan-Meier plot of overall survival for ERBB3 High vs Low"/>
          <p:cNvPicPr>
            <a:picLocks noChangeAspect="1"/>
          </p:cNvPicPr>
          <p:nvPr/>
        </p:nvPicPr>
        <p:blipFill>
          <a:blip r:embed="rId6"/>
          <a:stretch>
            <a:fillRect/>
          </a:stretch>
        </p:blipFill>
        <p:spPr>
          <a:xfrm>
            <a:off x="4311396" y="3950208"/>
            <a:ext cx="3566160" cy="2514600"/>
          </a:xfrm>
          <a:prstGeom prst="rect">
            <a:avLst/>
          </a:prstGeom>
        </p:spPr>
      </p:pic>
      <p:sp>
        <p:nvSpPr>
          <p:cNvPr id="11" name="takeaways_card"/>
          <p:cNvSpPr/>
          <p:nvPr/>
        </p:nvSpPr>
        <p:spPr>
          <a:xfrm>
            <a:off x="8104910" y="3950208"/>
            <a:ext cx="3566160" cy="2377440"/>
          </a:xfrm>
          <a:prstGeom prst="roundRect">
            <a:avLst>
              <a:gd name="adj" fmla="val 4364"/>
            </a:avLst>
          </a:prstGeom>
          <a:solidFill>
            <a:schemeClr val="bg2"/>
          </a:solidFill>
          <a:ln w="12700">
            <a:solidFill>
              <a:schemeClr val="bg2"/>
            </a:solidFill>
            <a:prstDash val="solid"/>
          </a:ln>
        </p:spPr>
        <p:txBody>
          <a:bodyPr/>
          <a:lstStyle/>
          <a:p>
            <a:endParaRPr lang="en-US"/>
          </a:p>
        </p:txBody>
      </p:sp>
      <p:sp>
        <p:nvSpPr>
          <p:cNvPr id="12" name="takeaways_text"/>
          <p:cNvSpPr txBox="1"/>
          <p:nvPr/>
        </p:nvSpPr>
        <p:spPr>
          <a:xfrm>
            <a:off x="8366760" y="4087368"/>
            <a:ext cx="3163824" cy="2240280"/>
          </a:xfrm>
          <a:prstGeom prst="rect">
            <a:avLst/>
          </a:prstGeom>
          <a:noFill/>
        </p:spPr>
        <p:txBody>
          <a:bodyPr wrap="square" lIns="0" tIns="0" rIns="0" bIns="0" rtlCol="0" anchor="t"/>
          <a:lstStyle/>
          <a:p>
            <a:pPr marL="0" indent="0">
              <a:spcAft>
                <a:spcPts val="700"/>
              </a:spcAft>
              <a:buNone/>
            </a:pPr>
            <a:r>
              <a:rPr lang="en-US" sz="1800" b="1" dirty="0">
                <a:solidFill>
                  <a:srgbClr val="000000"/>
                </a:solidFill>
                <a:latin typeface="Calibri" panose="020F0502020204030204" charset="0"/>
                <a:ea typeface="Calibri" panose="020F0502020204030204" pitchFamily="34" charset="-122"/>
                <a:cs typeface="Calibri" panose="020F0502020204030204" pitchFamily="34" charset="-120"/>
              </a:rPr>
              <a:t>Reading the curves</a:t>
            </a:r>
            <a:endParaRPr lang="en-US" sz="1400" dirty="0"/>
          </a:p>
          <a:p>
            <a:pPr marL="0" indent="0">
              <a:buNone/>
            </a:pPr>
            <a:r>
              <a:rPr lang="en-US" sz="1400" b="1" dirty="0">
                <a:solidFill>
                  <a:srgbClr val="000000"/>
                </a:solidFill>
                <a:latin typeface="Calibri" panose="020F0502020204030204" charset="0"/>
                <a:ea typeface="Calibri" panose="020F0502020204030204" pitchFamily="34" charset="-122"/>
                <a:cs typeface="Calibri" panose="020F0502020204030204" pitchFamily="34" charset="-120"/>
              </a:rPr>
              <a:t>EGFR  </a:t>
            </a:r>
            <a:r>
              <a:rPr lang="en-US" sz="1400" dirty="0">
                <a:solidFill>
                  <a:srgbClr val="000000"/>
                </a:solidFill>
                <a:latin typeface="Calibri" panose="020F0502020204030204" charset="0"/>
                <a:ea typeface="Calibri" panose="020F0502020204030204" pitchFamily="34" charset="-122"/>
                <a:cs typeface="Calibri" panose="020F0502020204030204" pitchFamily="34" charset="-120"/>
              </a:rPr>
              <a:t>High ahead after ~100 mo</a:t>
            </a:r>
            <a:endParaRPr lang="en-US" sz="1400" dirty="0"/>
          </a:p>
          <a:p>
            <a:pPr marL="0" indent="0">
              <a:buNone/>
            </a:pPr>
            <a:r>
              <a:rPr lang="en-US" sz="1400" b="1" dirty="0">
                <a:solidFill>
                  <a:srgbClr val="000000"/>
                </a:solidFill>
                <a:latin typeface="Calibri" panose="020F0502020204030204" charset="0"/>
                <a:ea typeface="Calibri" panose="020F0502020204030204" pitchFamily="34" charset="-122"/>
                <a:cs typeface="Calibri" panose="020F0502020204030204" pitchFamily="34" charset="-120"/>
              </a:rPr>
              <a:t>CDK1  </a:t>
            </a:r>
            <a:r>
              <a:rPr lang="en-US" sz="1400" dirty="0">
                <a:solidFill>
                  <a:srgbClr val="000000"/>
                </a:solidFill>
                <a:latin typeface="Calibri" panose="020F0502020204030204" charset="0"/>
                <a:ea typeface="Calibri" panose="020F0502020204030204" pitchFamily="34" charset="-122"/>
                <a:cs typeface="Calibri" panose="020F0502020204030204" pitchFamily="34" charset="-120"/>
              </a:rPr>
              <a:t>High behind until ~200 mo</a:t>
            </a:r>
            <a:endParaRPr lang="en-US" sz="1400" dirty="0"/>
          </a:p>
          <a:p>
            <a:pPr marL="0" indent="0">
              <a:buNone/>
            </a:pPr>
            <a:r>
              <a:rPr lang="en-US" sz="1400" b="1" dirty="0">
                <a:solidFill>
                  <a:srgbClr val="000000"/>
                </a:solidFill>
                <a:latin typeface="Calibri" panose="020F0502020204030204" charset="0"/>
                <a:ea typeface="Calibri" panose="020F0502020204030204" pitchFamily="34" charset="-122"/>
                <a:cs typeface="Calibri" panose="020F0502020204030204" pitchFamily="34" charset="-120"/>
              </a:rPr>
              <a:t>GATA3  </a:t>
            </a:r>
            <a:r>
              <a:rPr lang="en-US" sz="1400" dirty="0">
                <a:solidFill>
                  <a:srgbClr val="000000"/>
                </a:solidFill>
                <a:latin typeface="Calibri" panose="020F0502020204030204" charset="0"/>
                <a:ea typeface="Calibri" panose="020F0502020204030204" pitchFamily="34" charset="-122"/>
                <a:cs typeface="Calibri" panose="020F0502020204030204" pitchFamily="34" charset="-120"/>
              </a:rPr>
              <a:t>High ahead until ~125 mo</a:t>
            </a:r>
            <a:endParaRPr lang="en-US" sz="1400" dirty="0"/>
          </a:p>
          <a:p>
            <a:pPr marL="0" indent="0">
              <a:buNone/>
            </a:pPr>
            <a:r>
              <a:rPr lang="en-US" sz="1400" b="1" dirty="0">
                <a:solidFill>
                  <a:srgbClr val="000000"/>
                </a:solidFill>
                <a:latin typeface="Calibri" panose="020F0502020204030204" charset="0"/>
                <a:ea typeface="Calibri" panose="020F0502020204030204" pitchFamily="34" charset="-122"/>
                <a:cs typeface="Calibri" panose="020F0502020204030204" pitchFamily="34" charset="-120"/>
              </a:rPr>
              <a:t>ERBB2  </a:t>
            </a:r>
            <a:r>
              <a:rPr lang="en-US" sz="1400" dirty="0">
                <a:solidFill>
                  <a:srgbClr val="000000"/>
                </a:solidFill>
                <a:latin typeface="Calibri" panose="020F0502020204030204" charset="0"/>
                <a:ea typeface="Calibri" panose="020F0502020204030204" pitchFamily="34" charset="-122"/>
                <a:cs typeface="Calibri" panose="020F0502020204030204" pitchFamily="34" charset="-120"/>
              </a:rPr>
              <a:t>Small gap, bands overlap</a:t>
            </a:r>
            <a:endParaRPr lang="en-US" sz="1400" dirty="0"/>
          </a:p>
          <a:p>
            <a:pPr marL="0" indent="0">
              <a:buNone/>
            </a:pPr>
            <a:r>
              <a:rPr lang="en-US" sz="1400" b="1" dirty="0">
                <a:solidFill>
                  <a:srgbClr val="000000"/>
                </a:solidFill>
                <a:latin typeface="Calibri" panose="020F0502020204030204" charset="0"/>
                <a:ea typeface="Calibri" panose="020F0502020204030204" pitchFamily="34" charset="-122"/>
                <a:cs typeface="Calibri" panose="020F0502020204030204" pitchFamily="34" charset="-120"/>
              </a:rPr>
              <a:t>ERBB3  </a:t>
            </a:r>
            <a:r>
              <a:rPr lang="en-US" sz="1400" dirty="0">
                <a:solidFill>
                  <a:srgbClr val="000000"/>
                </a:solidFill>
                <a:latin typeface="Calibri" panose="020F0502020204030204" charset="0"/>
                <a:ea typeface="Calibri" panose="020F0502020204030204" pitchFamily="34" charset="-122"/>
                <a:cs typeface="Calibri" panose="020F0502020204030204" pitchFamily="34" charset="-120"/>
              </a:rPr>
              <a:t>Low slightly ahead after ~150 mo</a:t>
            </a:r>
            <a:endParaRPr lang="en-US" sz="1400" dirty="0"/>
          </a:p>
          <a:p>
            <a:pPr marL="0" indent="0">
              <a:buNone/>
            </a:pPr>
            <a:endParaRPr lang="en-US" sz="1400" dirty="0"/>
          </a:p>
        </p:txBody>
      </p:sp>
      <p:sp>
        <p:nvSpPr>
          <p:cNvPr id="14" name="Rectangle 13"/>
          <p:cNvSpPr/>
          <p:nvPr/>
        </p:nvSpPr>
        <p:spPr>
          <a:xfrm>
            <a:off x="0" y="0"/>
            <a:ext cx="12191695" cy="146304"/>
          </a:xfrm>
          <a:prstGeom prst="rect">
            <a:avLst/>
          </a:prstGeom>
          <a:solidFill>
            <a:srgbClr val="003E63"/>
          </a:solidFill>
          <a:ln>
            <a:noFill/>
          </a:ln>
          <a:effectLst/>
        </p:spPr>
        <p:txBody>
          <a:bodyPr rtlCol="0" anchor="ctr"/>
          <a:lstStyle/>
          <a:p>
            <a:pPr algn="ctr"/>
            <a:endParaRPr/>
          </a:p>
        </p:txBody>
      </p:sp>
      <p:sp>
        <p:nvSpPr>
          <p:cNvPr id="16" name="Rectangle 15"/>
          <p:cNvSpPr/>
          <p:nvPr/>
        </p:nvSpPr>
        <p:spPr>
          <a:xfrm>
            <a:off x="457200" y="817847"/>
            <a:ext cx="822960" cy="45720"/>
          </a:xfrm>
          <a:prstGeom prst="rect">
            <a:avLst/>
          </a:prstGeom>
          <a:solidFill>
            <a:srgbClr val="E3AD31"/>
          </a:solidFill>
          <a:ln>
            <a:noFill/>
          </a:ln>
          <a:effectLst/>
        </p:spPr>
        <p:txBody>
          <a:bodyPr rtlCol="0" anchor="ctr"/>
          <a:lstStyle/>
          <a:p>
            <a:pPr algn="ct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3E63"/>
          </a:solidFill>
          <a:ln>
            <a:noFill/>
          </a:ln>
          <a:effectLst/>
        </p:spPr>
        <p:txBody>
          <a:bodyPr rtlCol="0" anchor="ctr"/>
          <a:lstStyle/>
          <a:p>
            <a:pPr algn="ctr"/>
            <a:endParaRPr/>
          </a:p>
        </p:txBody>
      </p:sp>
      <p:sp>
        <p:nvSpPr>
          <p:cNvPr id="3" name="TextBox 2"/>
          <p:cNvSpPr txBox="1"/>
          <p:nvPr/>
        </p:nvSpPr>
        <p:spPr>
          <a:xfrm>
            <a:off x="822960" y="566928"/>
            <a:ext cx="10515600" cy="984885"/>
          </a:xfrm>
          <a:prstGeom prst="rect">
            <a:avLst/>
          </a:prstGeom>
          <a:noFill/>
        </p:spPr>
        <p:txBody>
          <a:bodyPr wrap="square" lIns="0" tIns="0" rIns="0" bIns="0" anchor="t">
            <a:spAutoFit/>
          </a:bodyPr>
          <a:lstStyle/>
          <a:p>
            <a:r>
              <a:rPr lang="en-US" sz="3200" b="1" u="sng" dirty="0"/>
              <a:t>Breast cancer subtype classification model</a:t>
            </a:r>
          </a:p>
          <a:p>
            <a:endParaRPr lang="en-US" sz="3200" b="1" u="sng" dirty="0">
              <a:solidFill>
                <a:srgbClr val="003E63"/>
              </a:solidFill>
              <a:latin typeface="Arial" panose="020B0604020202020204"/>
            </a:endParaRPr>
          </a:p>
        </p:txBody>
      </p:sp>
      <p:sp>
        <p:nvSpPr>
          <p:cNvPr id="4" name="Rectangle 3"/>
          <p:cNvSpPr/>
          <p:nvPr/>
        </p:nvSpPr>
        <p:spPr>
          <a:xfrm>
            <a:off x="822960" y="1225296"/>
            <a:ext cx="822960" cy="45720"/>
          </a:xfrm>
          <a:prstGeom prst="rect">
            <a:avLst/>
          </a:prstGeom>
          <a:solidFill>
            <a:srgbClr val="E3AD31"/>
          </a:solidFill>
          <a:ln>
            <a:noFill/>
          </a:ln>
          <a:effectLst/>
        </p:spPr>
        <p:txBody>
          <a:bodyPr rtlCol="0" anchor="ctr"/>
          <a:lstStyle/>
          <a:p>
            <a:pPr algn="ctr"/>
            <a:endParaRPr/>
          </a:p>
        </p:txBody>
      </p:sp>
      <p:sp>
        <p:nvSpPr>
          <p:cNvPr id="10" name="TextBox 9"/>
          <p:cNvSpPr txBox="1"/>
          <p:nvPr/>
        </p:nvSpPr>
        <p:spPr>
          <a:xfrm>
            <a:off x="10332720" y="6382512"/>
            <a:ext cx="1005840" cy="169277"/>
          </a:xfrm>
          <a:prstGeom prst="rect">
            <a:avLst/>
          </a:prstGeom>
          <a:noFill/>
        </p:spPr>
        <p:txBody>
          <a:bodyPr wrap="square" lIns="0" tIns="0" rIns="0" bIns="0" anchor="t">
            <a:spAutoFit/>
          </a:bodyPr>
          <a:lstStyle/>
          <a:p>
            <a:pPr algn="r"/>
            <a:r>
              <a:rPr lang="en-US" sz="1100" b="1" dirty="0">
                <a:solidFill>
                  <a:srgbClr val="566A7B"/>
                </a:solidFill>
                <a:latin typeface="Arial" panose="020B0604020202020204"/>
              </a:rPr>
              <a:t>24</a:t>
            </a:r>
            <a:endParaRPr sz="1100" b="1" dirty="0">
              <a:solidFill>
                <a:srgbClr val="566A7B"/>
              </a:solidFill>
              <a:latin typeface="Arial" panose="020B0604020202020204"/>
            </a:endParaRPr>
          </a:p>
        </p:txBody>
      </p:sp>
      <p:pic>
        <p:nvPicPr>
          <p:cNvPr id="5" name="Content Placeholder 4"/>
          <p:cNvPicPr>
            <a:picLocks noGrp="1" noChangeAspect="1"/>
          </p:cNvPicPr>
          <p:nvPr>
            <p:ph sz="half" idx="1"/>
          </p:nvPr>
        </p:nvPicPr>
        <p:blipFill>
          <a:blip r:embed="rId3"/>
          <a:stretch>
            <a:fillRect/>
          </a:stretch>
        </p:blipFill>
        <p:spPr>
          <a:xfrm>
            <a:off x="5995555" y="1562785"/>
            <a:ext cx="5795391" cy="3611888"/>
          </a:xfrm>
          <a:prstGeom prst="rect">
            <a:avLst/>
          </a:prstGeom>
        </p:spPr>
      </p:pic>
      <p:sp>
        <p:nvSpPr>
          <p:cNvPr id="9" name="Title 6"/>
          <p:cNvSpPr>
            <a:spLocks noGrp="1"/>
          </p:cNvSpPr>
          <p:nvPr>
            <p:ph sz="half" idx="2"/>
          </p:nvPr>
        </p:nvSpPr>
        <p:spPr>
          <a:xfrm>
            <a:off x="853440" y="1531500"/>
            <a:ext cx="5253789" cy="4525963"/>
          </a:xfrm>
        </p:spPr>
        <p:txBody>
          <a:bodyPr/>
          <a:lstStyle/>
          <a:p>
            <a:pPr marL="0" indent="0">
              <a:buNone/>
            </a:pPr>
            <a:r>
              <a:rPr lang="en-US" b="1" u="sng" dirty="0"/>
              <a:t>What is classification?</a:t>
            </a:r>
          </a:p>
          <a:p>
            <a:r>
              <a:rPr lang="en-US" sz="2400" dirty="0"/>
              <a:t>Classification is a process of machine learning in which the model assigns the observation to any of several classes.</a:t>
            </a:r>
          </a:p>
          <a:p>
            <a:r>
              <a:rPr lang="en-US" sz="2400" dirty="0"/>
              <a:t>It learns patterns based on previous labeled training datasets.</a:t>
            </a:r>
          </a:p>
          <a:p>
            <a:r>
              <a:rPr lang="en-US" sz="2400" dirty="0"/>
              <a:t>Its output is defined into classes, not continuous numerical figures.</a:t>
            </a:r>
          </a:p>
          <a:p>
            <a:pPr marL="0" indent="0">
              <a:buNone/>
            </a:pP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Content Placeholder 14"/>
          <p:cNvSpPr>
            <a:spLocks noGrp="1"/>
          </p:cNvSpPr>
          <p:nvPr>
            <p:ph sz="half" idx="2"/>
          </p:nvPr>
        </p:nvSpPr>
        <p:spPr>
          <a:xfrm>
            <a:off x="545430" y="807076"/>
            <a:ext cx="7803573" cy="5243847"/>
          </a:xfrm>
        </p:spPr>
        <p:txBody>
          <a:bodyPr>
            <a:normAutofit fontScale="55000" lnSpcReduction="20000"/>
          </a:bodyPr>
          <a:lstStyle/>
          <a:p>
            <a:pPr marL="0" indent="0">
              <a:buNone/>
            </a:pPr>
            <a:r>
              <a:rPr lang="en-US" sz="3800" b="1" dirty="0"/>
              <a:t> </a:t>
            </a:r>
            <a:r>
              <a:rPr lang="en-US" sz="5800" b="1" u="sng" dirty="0"/>
              <a:t>What is XGBoost?</a:t>
            </a:r>
          </a:p>
          <a:p>
            <a:pPr marL="0" indent="0">
              <a:buNone/>
            </a:pPr>
            <a:endParaRPr lang="en-US" sz="3300" b="1" u="sng" dirty="0"/>
          </a:p>
          <a:p>
            <a:r>
              <a:rPr lang="en-US" sz="4400" dirty="0"/>
              <a:t>XGBoost is a machine learning method that constructs decision trees sequentially. Every newly constructed tree improves the predictive power of the whole model.</a:t>
            </a:r>
          </a:p>
          <a:p>
            <a:r>
              <a:rPr lang="en-US" sz="4400" dirty="0"/>
              <a:t>The main parameters of XGBoost algorithm used in the project are as follows:</a:t>
            </a:r>
          </a:p>
          <a:p>
            <a:pPr marL="0" indent="0">
              <a:buNone/>
            </a:pPr>
            <a:r>
              <a:rPr lang="en-US" sz="4400" dirty="0"/>
              <a:t>             - number of boosting estimators equals 300;</a:t>
            </a:r>
          </a:p>
          <a:p>
            <a:pPr marL="0" indent="0">
              <a:buNone/>
            </a:pPr>
            <a:r>
              <a:rPr lang="en-US" sz="4400" dirty="0"/>
              <a:t>             - maximum tree depth equals 5;</a:t>
            </a:r>
          </a:p>
          <a:p>
            <a:pPr marL="0" indent="0">
              <a:buNone/>
            </a:pPr>
            <a:r>
              <a:rPr lang="en-US" sz="4400" dirty="0"/>
              <a:t>             - learning rate equals 0.05;</a:t>
            </a:r>
          </a:p>
          <a:p>
            <a:pPr marL="0" indent="0">
              <a:buNone/>
            </a:pPr>
            <a:r>
              <a:rPr lang="en-US" sz="4400" dirty="0"/>
              <a:t>             - row subsampling equals 0.8;</a:t>
            </a:r>
          </a:p>
          <a:p>
            <a:pPr marL="0" indent="0">
              <a:buNone/>
            </a:pPr>
            <a:r>
              <a:rPr lang="en-US" sz="4400" dirty="0"/>
              <a:t>             - feature subsampling equals 0.8;</a:t>
            </a:r>
          </a:p>
          <a:p>
            <a:pPr marL="0" indent="0">
              <a:buNone/>
            </a:pPr>
            <a:r>
              <a:rPr lang="en-US" sz="4400" dirty="0"/>
              <a:t>             - multiclass probability prediction via </a:t>
            </a:r>
            <a:r>
              <a:rPr lang="en-US" sz="4400" dirty="0" err="1"/>
              <a:t>multi:softprob</a:t>
            </a:r>
            <a:r>
              <a:rPr lang="en-US" sz="4400" dirty="0"/>
              <a:t>.</a:t>
            </a:r>
          </a:p>
          <a:p>
            <a:r>
              <a:rPr lang="en-US" sz="4400" dirty="0"/>
              <a:t>All the parameters presented above are training parameters of the classifier.</a:t>
            </a:r>
          </a:p>
        </p:txBody>
      </p:sp>
      <p:pic>
        <p:nvPicPr>
          <p:cNvPr id="17" name="Picture 16"/>
          <p:cNvPicPr>
            <a:picLocks noChangeAspect="1"/>
          </p:cNvPicPr>
          <p:nvPr/>
        </p:nvPicPr>
        <p:blipFill>
          <a:blip r:embed="rId3"/>
          <a:stretch>
            <a:fillRect/>
          </a:stretch>
        </p:blipFill>
        <p:spPr>
          <a:xfrm>
            <a:off x="8494296" y="1370279"/>
            <a:ext cx="3152274" cy="4267919"/>
          </a:xfrm>
          <a:prstGeom prst="rect">
            <a:avLst/>
          </a:prstGeom>
        </p:spPr>
      </p:pic>
      <p:sp>
        <p:nvSpPr>
          <p:cNvPr id="19" name="Rectangle 18"/>
          <p:cNvSpPr/>
          <p:nvPr/>
        </p:nvSpPr>
        <p:spPr>
          <a:xfrm>
            <a:off x="0" y="0"/>
            <a:ext cx="12191695" cy="146304"/>
          </a:xfrm>
          <a:prstGeom prst="rect">
            <a:avLst/>
          </a:prstGeom>
          <a:solidFill>
            <a:srgbClr val="003E63"/>
          </a:solidFill>
          <a:ln>
            <a:noFill/>
          </a:ln>
          <a:effectLst/>
        </p:spPr>
        <p:txBody>
          <a:bodyPr rtlCol="0" anchor="ctr"/>
          <a:lstStyle/>
          <a:p>
            <a:pPr algn="ctr"/>
            <a:endParaRPr/>
          </a:p>
        </p:txBody>
      </p:sp>
      <p:sp>
        <p:nvSpPr>
          <p:cNvPr id="3" name="Rectangle 2"/>
          <p:cNvSpPr/>
          <p:nvPr/>
        </p:nvSpPr>
        <p:spPr>
          <a:xfrm flipV="1">
            <a:off x="708660" y="634846"/>
            <a:ext cx="822960" cy="64330"/>
          </a:xfrm>
          <a:prstGeom prst="rect">
            <a:avLst/>
          </a:prstGeom>
          <a:solidFill>
            <a:srgbClr val="E3AD31"/>
          </a:solidFill>
          <a:ln>
            <a:noFill/>
          </a:ln>
          <a:effectLst/>
        </p:spPr>
        <p:txBody>
          <a:bodyPr rtlCol="0" anchor="ctr"/>
          <a:lstStyle/>
          <a:p>
            <a:pPr algn="ctr"/>
            <a:endParaRPr/>
          </a:p>
        </p:txBody>
      </p:sp>
      <p:sp>
        <p:nvSpPr>
          <p:cNvPr id="7" name="TextBox 6"/>
          <p:cNvSpPr txBox="1"/>
          <p:nvPr/>
        </p:nvSpPr>
        <p:spPr>
          <a:xfrm>
            <a:off x="10332720" y="6382512"/>
            <a:ext cx="1005840" cy="169277"/>
          </a:xfrm>
          <a:prstGeom prst="rect">
            <a:avLst/>
          </a:prstGeom>
          <a:noFill/>
        </p:spPr>
        <p:txBody>
          <a:bodyPr wrap="square" lIns="0" tIns="0" rIns="0" bIns="0" anchor="t">
            <a:spAutoFit/>
          </a:bodyPr>
          <a:lstStyle/>
          <a:p>
            <a:pPr algn="r"/>
            <a:r>
              <a:rPr sz="1100" b="1" dirty="0">
                <a:solidFill>
                  <a:srgbClr val="566A7B"/>
                </a:solidFill>
                <a:latin typeface="Arial" panose="020B0604020202020204"/>
              </a:rPr>
              <a:t>2</a:t>
            </a:r>
            <a:r>
              <a:rPr lang="en-US" sz="1100" b="1" dirty="0">
                <a:solidFill>
                  <a:srgbClr val="566A7B"/>
                </a:solidFill>
                <a:latin typeface="Arial" panose="020B0604020202020204"/>
              </a:rPr>
              <a:t>5</a:t>
            </a:r>
            <a:endParaRPr sz="1100" b="1" dirty="0">
              <a:solidFill>
                <a:srgbClr val="566A7B"/>
              </a:solidFill>
              <a:latin typeface="Arial" panose="020B0604020202020204"/>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sz="half" idx="4294967295"/>
          </p:nvPr>
        </p:nvSpPr>
        <p:spPr>
          <a:xfrm>
            <a:off x="757084" y="796867"/>
            <a:ext cx="10677525" cy="2632075"/>
          </a:xfrm>
        </p:spPr>
        <p:txBody>
          <a:bodyPr>
            <a:normAutofit fontScale="90000" lnSpcReduction="20000"/>
          </a:bodyPr>
          <a:lstStyle/>
          <a:p>
            <a:pPr marL="0" indent="0">
              <a:buNone/>
            </a:pPr>
            <a:r>
              <a:rPr lang="en-US" sz="3600" b="1" u="sng" dirty="0"/>
              <a:t>How does the model work?</a:t>
            </a:r>
          </a:p>
          <a:p>
            <a:pPr lvl="0"/>
            <a:r>
              <a:rPr lang="en-US" sz="2700" dirty="0"/>
              <a:t>The model receives the gene-related features for a patient.</a:t>
            </a:r>
          </a:p>
          <a:p>
            <a:pPr lvl="0"/>
            <a:r>
              <a:rPr lang="en-US" sz="2700" dirty="0"/>
              <a:t>It learns patterns between those features and the known subtype labels in the training data.</a:t>
            </a:r>
          </a:p>
          <a:p>
            <a:pPr lvl="0"/>
            <a:r>
              <a:rPr lang="en-US" sz="2700" dirty="0"/>
              <a:t>It generates probabilities for the seven possible subtype labels.</a:t>
            </a:r>
          </a:p>
          <a:p>
            <a:pPr lvl="0"/>
            <a:r>
              <a:rPr lang="en-US" sz="2700" dirty="0"/>
              <a:t>It predicts the label with the highest estimated probability.</a:t>
            </a:r>
          </a:p>
          <a:p>
            <a:pPr lvl="0"/>
            <a:r>
              <a:rPr lang="en-US" sz="2700" dirty="0"/>
              <a:t>Its predictions are compared with the actual labels in the test data.</a:t>
            </a:r>
          </a:p>
          <a:p>
            <a:pPr marL="0" indent="0">
              <a:buNone/>
            </a:pPr>
            <a:endParaRPr lang="en-US" sz="2400" dirty="0"/>
          </a:p>
        </p:txBody>
      </p:sp>
      <p:sp>
        <p:nvSpPr>
          <p:cNvPr id="9" name="Rectangle 8"/>
          <p:cNvSpPr/>
          <p:nvPr/>
        </p:nvSpPr>
        <p:spPr>
          <a:xfrm>
            <a:off x="0" y="0"/>
            <a:ext cx="12191695" cy="146304"/>
          </a:xfrm>
          <a:prstGeom prst="rect">
            <a:avLst/>
          </a:prstGeom>
          <a:solidFill>
            <a:srgbClr val="003E63"/>
          </a:solidFill>
          <a:ln>
            <a:noFill/>
          </a:ln>
          <a:effectLst/>
        </p:spPr>
        <p:txBody>
          <a:bodyPr rtlCol="0" anchor="ctr"/>
          <a:lstStyle/>
          <a:p>
            <a:pPr algn="ctr"/>
            <a:endParaRPr/>
          </a:p>
        </p:txBody>
      </p:sp>
      <p:pic>
        <p:nvPicPr>
          <p:cNvPr id="20" name="Picture 19"/>
          <p:cNvPicPr>
            <a:picLocks noChangeAspect="1"/>
          </p:cNvPicPr>
          <p:nvPr/>
        </p:nvPicPr>
        <p:blipFill>
          <a:blip r:embed="rId3"/>
          <a:stretch>
            <a:fillRect/>
          </a:stretch>
        </p:blipFill>
        <p:spPr>
          <a:xfrm>
            <a:off x="1233182" y="3676321"/>
            <a:ext cx="8464491" cy="2061749"/>
          </a:xfrm>
          <a:prstGeom prst="rect">
            <a:avLst/>
          </a:prstGeom>
        </p:spPr>
      </p:pic>
      <p:sp>
        <p:nvSpPr>
          <p:cNvPr id="3" name="Rectangle 2"/>
          <p:cNvSpPr/>
          <p:nvPr/>
        </p:nvSpPr>
        <p:spPr>
          <a:xfrm>
            <a:off x="822960" y="651452"/>
            <a:ext cx="822960" cy="45720"/>
          </a:xfrm>
          <a:prstGeom prst="rect">
            <a:avLst/>
          </a:prstGeom>
          <a:solidFill>
            <a:srgbClr val="E3AD31"/>
          </a:solidFill>
          <a:ln>
            <a:noFill/>
          </a:ln>
          <a:effectLst/>
        </p:spPr>
        <p:txBody>
          <a:bodyPr rtlCol="0" anchor="ctr"/>
          <a:lstStyle/>
          <a:p>
            <a:pPr algn="ctr"/>
            <a:endParaRPr/>
          </a:p>
        </p:txBody>
      </p:sp>
      <p:sp>
        <p:nvSpPr>
          <p:cNvPr id="8" name="TextBox 7"/>
          <p:cNvSpPr txBox="1"/>
          <p:nvPr/>
        </p:nvSpPr>
        <p:spPr>
          <a:xfrm>
            <a:off x="10332720" y="6382512"/>
            <a:ext cx="1005840" cy="169277"/>
          </a:xfrm>
          <a:prstGeom prst="rect">
            <a:avLst/>
          </a:prstGeom>
          <a:noFill/>
        </p:spPr>
        <p:txBody>
          <a:bodyPr wrap="square" lIns="0" tIns="0" rIns="0" bIns="0" anchor="t">
            <a:spAutoFit/>
          </a:bodyPr>
          <a:lstStyle/>
          <a:p>
            <a:pPr algn="r"/>
            <a:r>
              <a:rPr sz="1100" b="1" dirty="0">
                <a:solidFill>
                  <a:srgbClr val="566A7B"/>
                </a:solidFill>
                <a:latin typeface="Arial" panose="020B0604020202020204"/>
              </a:rPr>
              <a:t>2</a:t>
            </a:r>
            <a:r>
              <a:rPr lang="en-US" sz="1100" b="1" dirty="0">
                <a:solidFill>
                  <a:srgbClr val="566A7B"/>
                </a:solidFill>
                <a:latin typeface="Arial" panose="020B0604020202020204"/>
              </a:rPr>
              <a:t>6</a:t>
            </a:r>
            <a:endParaRPr sz="1100" b="1" dirty="0">
              <a:solidFill>
                <a:srgbClr val="566A7B"/>
              </a:solidFill>
              <a:latin typeface="Arial" panose="020B0604020202020204"/>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3E63"/>
          </a:solidFill>
          <a:ln>
            <a:noFill/>
          </a:ln>
          <a:effectLst/>
        </p:spPr>
        <p:txBody>
          <a:bodyPr rtlCol="0" anchor="ctr"/>
          <a:lstStyle/>
          <a:p>
            <a:pPr algn="ctr"/>
            <a:endParaRPr/>
          </a:p>
        </p:txBody>
      </p:sp>
      <p:sp>
        <p:nvSpPr>
          <p:cNvPr id="3" name="TextBox 2"/>
          <p:cNvSpPr txBox="1"/>
          <p:nvPr/>
        </p:nvSpPr>
        <p:spPr>
          <a:xfrm>
            <a:off x="822960" y="566928"/>
            <a:ext cx="10515600" cy="184666"/>
          </a:xfrm>
          <a:prstGeom prst="rect">
            <a:avLst/>
          </a:prstGeom>
          <a:noFill/>
        </p:spPr>
        <p:txBody>
          <a:bodyPr wrap="square" lIns="0" tIns="0" rIns="0" bIns="0" anchor="t">
            <a:spAutoFit/>
          </a:bodyPr>
          <a:lstStyle/>
          <a:p>
            <a:pPr algn="l"/>
            <a:r>
              <a:rPr lang="en-US" sz="1200" b="1" dirty="0">
                <a:solidFill>
                  <a:srgbClr val="E3AD31"/>
                </a:solidFill>
                <a:latin typeface="Arial" panose="020B0604020202020204"/>
              </a:rPr>
              <a:t>\</a:t>
            </a:r>
            <a:endParaRPr sz="1200" b="1" dirty="0">
              <a:solidFill>
                <a:srgbClr val="E3AD31"/>
              </a:solidFill>
              <a:latin typeface="Arial" panose="020B0604020202020204"/>
            </a:endParaRPr>
          </a:p>
        </p:txBody>
      </p:sp>
      <p:sp>
        <p:nvSpPr>
          <p:cNvPr id="4" name="TextBox 3"/>
          <p:cNvSpPr txBox="1"/>
          <p:nvPr/>
        </p:nvSpPr>
        <p:spPr>
          <a:xfrm>
            <a:off x="754134" y="441295"/>
            <a:ext cx="10515600" cy="492443"/>
          </a:xfrm>
          <a:prstGeom prst="rect">
            <a:avLst/>
          </a:prstGeom>
          <a:noFill/>
        </p:spPr>
        <p:txBody>
          <a:bodyPr wrap="square" lIns="0" tIns="0" rIns="0" bIns="0" anchor="t">
            <a:spAutoFit/>
          </a:bodyPr>
          <a:lstStyle/>
          <a:p>
            <a:r>
              <a:rPr lang="en-US" sz="3200" b="1" u="sng" dirty="0">
                <a:latin typeface="+mj-lt"/>
              </a:rPr>
              <a:t>Evaluation Metrics </a:t>
            </a:r>
          </a:p>
        </p:txBody>
      </p:sp>
      <p:sp>
        <p:nvSpPr>
          <p:cNvPr id="5" name="Rectangle 4"/>
          <p:cNvSpPr/>
          <p:nvPr/>
        </p:nvSpPr>
        <p:spPr>
          <a:xfrm>
            <a:off x="754134" y="1126498"/>
            <a:ext cx="822960" cy="45720"/>
          </a:xfrm>
          <a:prstGeom prst="rect">
            <a:avLst/>
          </a:prstGeom>
          <a:solidFill>
            <a:srgbClr val="E3AD31"/>
          </a:solidFill>
          <a:ln>
            <a:noFill/>
          </a:ln>
          <a:effectLst/>
        </p:spPr>
        <p:txBody>
          <a:bodyPr rtlCol="0" anchor="ctr"/>
          <a:lstStyle/>
          <a:p>
            <a:pPr algn="ctr"/>
            <a:endParaRPr/>
          </a:p>
        </p:txBody>
      </p:sp>
      <p:sp>
        <p:nvSpPr>
          <p:cNvPr id="10" name="TextBox 9"/>
          <p:cNvSpPr txBox="1"/>
          <p:nvPr/>
        </p:nvSpPr>
        <p:spPr>
          <a:xfrm>
            <a:off x="10332720" y="6382512"/>
            <a:ext cx="1005840" cy="169277"/>
          </a:xfrm>
          <a:prstGeom prst="rect">
            <a:avLst/>
          </a:prstGeom>
          <a:noFill/>
        </p:spPr>
        <p:txBody>
          <a:bodyPr wrap="square" lIns="0" tIns="0" rIns="0" bIns="0" anchor="t">
            <a:spAutoFit/>
          </a:bodyPr>
          <a:lstStyle/>
          <a:p>
            <a:pPr algn="r"/>
            <a:r>
              <a:rPr lang="en-US" sz="1100" b="1" dirty="0">
                <a:solidFill>
                  <a:srgbClr val="566A7B"/>
                </a:solidFill>
                <a:latin typeface="Arial" panose="020B0604020202020204"/>
              </a:rPr>
              <a:t>27</a:t>
            </a:r>
            <a:endParaRPr sz="1100" b="1" dirty="0">
              <a:solidFill>
                <a:srgbClr val="566A7B"/>
              </a:solidFill>
              <a:latin typeface="Arial" panose="020B0604020202020204"/>
            </a:endParaRPr>
          </a:p>
        </p:txBody>
      </p:sp>
      <p:sp>
        <p:nvSpPr>
          <p:cNvPr id="6" name="TextBox 5"/>
          <p:cNvSpPr txBox="1"/>
          <p:nvPr/>
        </p:nvSpPr>
        <p:spPr>
          <a:xfrm>
            <a:off x="754134" y="1239440"/>
            <a:ext cx="11114574" cy="5539978"/>
          </a:xfrm>
          <a:prstGeom prst="rect">
            <a:avLst/>
          </a:prstGeom>
          <a:noFill/>
        </p:spPr>
        <p:txBody>
          <a:bodyPr wrap="square" rtlCol="0">
            <a:spAutoFit/>
          </a:bodyPr>
          <a:lstStyle/>
          <a:p>
            <a:r>
              <a:rPr lang="en-US" sz="2400" b="1" u="sng" dirty="0"/>
              <a:t>Metrics for Classification </a:t>
            </a:r>
          </a:p>
          <a:p>
            <a:pPr marL="342900" indent="-342900">
              <a:buFont typeface="Arial" panose="020B0604020202020204" pitchFamily="34" charset="0"/>
              <a:buChar char="•"/>
            </a:pPr>
            <a:r>
              <a:rPr lang="en-US" sz="2400" dirty="0"/>
              <a:t>Accuracy: Computes the percentage of samples of breast cancer data that are correctly classified among all the samples tested.</a:t>
            </a:r>
          </a:p>
          <a:p>
            <a:pPr marL="342900" indent="-342900">
              <a:buFont typeface="Arial" panose="020B0604020202020204" pitchFamily="34" charset="0"/>
              <a:buChar char="•"/>
            </a:pPr>
            <a:r>
              <a:rPr lang="en-US" sz="2400" dirty="0"/>
              <a:t>Macro-F1 Score: The F1 score of each subtype is computed and then the mean is calculated equally weighting each class.</a:t>
            </a:r>
          </a:p>
          <a:p>
            <a:pPr marL="342900" indent="-342900">
              <a:buFont typeface="Arial" panose="020B0604020202020204" pitchFamily="34" charset="0"/>
              <a:buChar char="•"/>
            </a:pPr>
            <a:r>
              <a:rPr lang="en-US" sz="2400" dirty="0"/>
              <a:t>Precision: Computes the number of samples that are correctly predicted to be of a certain subtype.</a:t>
            </a:r>
          </a:p>
          <a:p>
            <a:pPr marL="342900" indent="-342900">
              <a:buFont typeface="Arial" panose="020B0604020202020204" pitchFamily="34" charset="0"/>
              <a:buChar char="•"/>
            </a:pPr>
            <a:r>
              <a:rPr lang="en-US" sz="2400" dirty="0"/>
              <a:t>Recall: Computes the number of samples that are of a certain subtype and correctly identified.</a:t>
            </a:r>
          </a:p>
          <a:p>
            <a:pPr marL="342900" indent="-342900">
              <a:buFont typeface="Arial" panose="020B0604020202020204" pitchFamily="34" charset="0"/>
              <a:buChar char="•"/>
            </a:pPr>
            <a:r>
              <a:rPr lang="en-US" sz="2400" dirty="0"/>
              <a:t>Confusion Matrix: Illustrates the predictions, both true and false for each of the seven molecular subtypes.</a:t>
            </a:r>
          </a:p>
          <a:p>
            <a:pPr marL="285750" indent="-285750">
              <a:buFontTx/>
              <a:buChar char="-"/>
            </a:pPr>
            <a:endParaRPr lang="en-US" dirty="0"/>
          </a:p>
          <a:p>
            <a:r>
              <a:rPr lang="en-US" sz="2400" b="1" u="sng" dirty="0"/>
              <a:t>Survival Analysis Metric</a:t>
            </a:r>
          </a:p>
          <a:p>
            <a:pPr marL="285750" indent="-285750">
              <a:buFont typeface="Arial" panose="020B0604020202020204" pitchFamily="34" charset="0"/>
              <a:buChar char="•"/>
            </a:pPr>
            <a:r>
              <a:rPr lang="en-US" sz="2400" dirty="0"/>
              <a:t>Concordance Index (C-index): It is a metric that measures the ability of the survival analysis model to rank patients in order of their survival probability</a:t>
            </a:r>
            <a:r>
              <a:rPr lang="en-US" sz="2000" dirty="0"/>
              <a: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0" y="0"/>
            <a:ext cx="12192000" cy="6858000"/>
          </a:xfrm>
          <a:prstGeom prst="rect">
            <a:avLst/>
          </a:prstGeom>
        </p:spPr>
      </p:pic>
      <p:sp>
        <p:nvSpPr>
          <p:cNvPr id="7" name="TextBox 6"/>
          <p:cNvSpPr txBox="1"/>
          <p:nvPr/>
        </p:nvSpPr>
        <p:spPr>
          <a:xfrm>
            <a:off x="10835640" y="6583680"/>
            <a:ext cx="1005840" cy="169277"/>
          </a:xfrm>
          <a:prstGeom prst="rect">
            <a:avLst/>
          </a:prstGeom>
          <a:noFill/>
        </p:spPr>
        <p:txBody>
          <a:bodyPr wrap="square" lIns="0" tIns="0" rIns="0" bIns="0" anchor="t">
            <a:spAutoFit/>
          </a:bodyPr>
          <a:lstStyle/>
          <a:p>
            <a:pPr algn="r"/>
            <a:r>
              <a:rPr sz="1100" b="1" dirty="0">
                <a:solidFill>
                  <a:srgbClr val="566A7B"/>
                </a:solidFill>
                <a:latin typeface="Arial" panose="020B0604020202020204"/>
              </a:rPr>
              <a:t>2</a:t>
            </a:r>
            <a:r>
              <a:rPr lang="en-US" sz="1100" b="1" dirty="0">
                <a:solidFill>
                  <a:srgbClr val="566A7B"/>
                </a:solidFill>
                <a:latin typeface="Arial" panose="020B0604020202020204"/>
              </a:rPr>
              <a:t>8</a:t>
            </a:r>
            <a:endParaRPr sz="1100" b="1" dirty="0">
              <a:solidFill>
                <a:srgbClr val="566A7B"/>
              </a:solidFill>
              <a:latin typeface="Arial" panose="020B0604020202020204"/>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3E63"/>
          </a:solidFill>
          <a:ln>
            <a:noFill/>
          </a:ln>
          <a:effectLst/>
        </p:spPr>
        <p:txBody>
          <a:bodyPr rtlCol="0" anchor="ctr"/>
          <a:lstStyle/>
          <a:p>
            <a:pPr algn="ctr"/>
            <a:endParaRPr/>
          </a:p>
        </p:txBody>
      </p:sp>
      <p:sp>
        <p:nvSpPr>
          <p:cNvPr id="3" name="TextBox 2"/>
          <p:cNvSpPr txBox="1"/>
          <p:nvPr/>
        </p:nvSpPr>
        <p:spPr>
          <a:xfrm>
            <a:off x="822960" y="566928"/>
            <a:ext cx="10515600" cy="492443"/>
          </a:xfrm>
          <a:prstGeom prst="rect">
            <a:avLst/>
          </a:prstGeom>
          <a:noFill/>
        </p:spPr>
        <p:txBody>
          <a:bodyPr wrap="square" lIns="0" tIns="0" rIns="0" bIns="0" anchor="t">
            <a:spAutoFit/>
          </a:bodyPr>
          <a:lstStyle/>
          <a:p>
            <a:r>
              <a:rPr lang="en-US" sz="3200" b="1" u="sng" dirty="0">
                <a:latin typeface="+mj-lt"/>
              </a:rPr>
              <a:t>Results of survival analysis</a:t>
            </a:r>
          </a:p>
        </p:txBody>
      </p:sp>
      <p:sp>
        <p:nvSpPr>
          <p:cNvPr id="4" name="Rectangle 3"/>
          <p:cNvSpPr/>
          <p:nvPr/>
        </p:nvSpPr>
        <p:spPr>
          <a:xfrm>
            <a:off x="822960" y="1225296"/>
            <a:ext cx="822960" cy="45720"/>
          </a:xfrm>
          <a:prstGeom prst="rect">
            <a:avLst/>
          </a:prstGeom>
          <a:solidFill>
            <a:srgbClr val="E3AD31"/>
          </a:solidFill>
          <a:ln>
            <a:noFill/>
          </a:ln>
          <a:effectLst/>
        </p:spPr>
        <p:txBody>
          <a:bodyPr rtlCol="0" anchor="ctr"/>
          <a:lstStyle/>
          <a:p>
            <a:pPr algn="ctr"/>
            <a:endParaRPr/>
          </a:p>
        </p:txBody>
      </p:sp>
      <p:sp>
        <p:nvSpPr>
          <p:cNvPr id="10" name="TextBox 9"/>
          <p:cNvSpPr txBox="1"/>
          <p:nvPr/>
        </p:nvSpPr>
        <p:spPr>
          <a:xfrm>
            <a:off x="10332720" y="6382512"/>
            <a:ext cx="1005840" cy="169277"/>
          </a:xfrm>
          <a:prstGeom prst="rect">
            <a:avLst/>
          </a:prstGeom>
          <a:noFill/>
        </p:spPr>
        <p:txBody>
          <a:bodyPr wrap="square" lIns="0" tIns="0" rIns="0" bIns="0" anchor="t">
            <a:spAutoFit/>
          </a:bodyPr>
          <a:lstStyle/>
          <a:p>
            <a:pPr algn="r"/>
            <a:r>
              <a:rPr lang="en-US" sz="1100" b="1" dirty="0">
                <a:solidFill>
                  <a:srgbClr val="566A7B"/>
                </a:solidFill>
                <a:latin typeface="Arial" panose="020B0604020202020204"/>
              </a:rPr>
              <a:t>29</a:t>
            </a:r>
            <a:endParaRPr sz="1100" b="1" dirty="0">
              <a:solidFill>
                <a:srgbClr val="566A7B"/>
              </a:solidFill>
              <a:latin typeface="Arial" panose="020B0604020202020204"/>
            </a:endParaRPr>
          </a:p>
        </p:txBody>
      </p:sp>
      <p:sp>
        <p:nvSpPr>
          <p:cNvPr id="13" name="Title 10"/>
          <p:cNvSpPr>
            <a:spLocks noGrp="1"/>
          </p:cNvSpPr>
          <p:nvPr>
            <p:ph idx="1"/>
          </p:nvPr>
        </p:nvSpPr>
        <p:spPr>
          <a:xfrm>
            <a:off x="697831" y="1427536"/>
            <a:ext cx="11093450" cy="4679583"/>
          </a:xfrm>
        </p:spPr>
        <p:txBody>
          <a:bodyPr>
            <a:normAutofit fontScale="92500" lnSpcReduction="20000"/>
          </a:bodyPr>
          <a:lstStyle/>
          <a:p>
            <a:pPr>
              <a:buFontTx/>
              <a:buChar char="-"/>
            </a:pPr>
            <a:endParaRPr lang="en-US" sz="2000" dirty="0"/>
          </a:p>
          <a:p>
            <a:pPr>
              <a:buFontTx/>
              <a:buChar char="-"/>
            </a:pPr>
            <a:endParaRPr lang="en-US" sz="2000" dirty="0"/>
          </a:p>
          <a:p>
            <a:pPr>
              <a:buFontTx/>
              <a:buChar char="-"/>
            </a:pPr>
            <a:endParaRPr lang="en-US" sz="2000" dirty="0"/>
          </a:p>
          <a:p>
            <a:pPr>
              <a:buFontTx/>
              <a:buChar char="-"/>
            </a:pPr>
            <a:endParaRPr lang="en-US" sz="2000" dirty="0"/>
          </a:p>
          <a:p>
            <a:pPr>
              <a:buFontTx/>
              <a:buChar char="-"/>
            </a:pPr>
            <a:endParaRPr lang="en-US" sz="2000" dirty="0"/>
          </a:p>
          <a:p>
            <a:r>
              <a:rPr lang="en-US" sz="2600" dirty="0"/>
              <a:t>With the addition of the five genes, the C-index was reported to have increased by about 0.0021.</a:t>
            </a:r>
          </a:p>
          <a:p>
            <a:r>
              <a:rPr lang="en-US" sz="2600" dirty="0"/>
              <a:t>This is an extremely small change.</a:t>
            </a:r>
          </a:p>
          <a:p>
            <a:r>
              <a:rPr lang="en-US" sz="2600" dirty="0"/>
              <a:t>According to the report, the coefficients of the genes failed to be statistically significant at the standard cut-off of (p &lt; 0.05).</a:t>
            </a:r>
          </a:p>
          <a:p>
            <a:r>
              <a:rPr lang="en-US" sz="2600" dirty="0"/>
              <a:t>The two C-indexes are both calculated in-sample, i.e., using the same data to fit and evaluate the models.</a:t>
            </a:r>
          </a:p>
          <a:p>
            <a:r>
              <a:rPr lang="en-US" sz="2600" dirty="0"/>
              <a:t>Hence, this does not show that the genes are independent predictors of survival or add clinical value.</a:t>
            </a:r>
          </a:p>
        </p:txBody>
      </p:sp>
      <p:pic>
        <p:nvPicPr>
          <p:cNvPr id="7" name="Picture 6"/>
          <p:cNvPicPr>
            <a:picLocks noChangeAspect="1"/>
          </p:cNvPicPr>
          <p:nvPr/>
        </p:nvPicPr>
        <p:blipFill>
          <a:blip r:embed="rId3"/>
          <a:stretch>
            <a:fillRect/>
          </a:stretch>
        </p:blipFill>
        <p:spPr>
          <a:xfrm>
            <a:off x="822960" y="1319636"/>
            <a:ext cx="8147784" cy="160610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0" y="-1"/>
            <a:ext cx="12192000" cy="6858001"/>
          </a:xfrm>
          <a:prstGeom prst="rect">
            <a:avLst/>
          </a:prstGeom>
        </p:spPr>
      </p:pic>
      <p:sp>
        <p:nvSpPr>
          <p:cNvPr id="7" name="Rectangle 6"/>
          <p:cNvSpPr/>
          <p:nvPr/>
        </p:nvSpPr>
        <p:spPr>
          <a:xfrm>
            <a:off x="0" y="0"/>
            <a:ext cx="12191695" cy="146304"/>
          </a:xfrm>
          <a:prstGeom prst="rect">
            <a:avLst/>
          </a:prstGeom>
          <a:solidFill>
            <a:srgbClr val="003E63"/>
          </a:solidFill>
          <a:ln>
            <a:noFill/>
          </a:ln>
          <a:effectLst/>
        </p:spPr>
        <p:txBody>
          <a:bodyPr rtlCol="0" anchor="ctr"/>
          <a:lstStyle/>
          <a:p>
            <a:pPr algn="ctr"/>
            <a:endParaRPr/>
          </a:p>
        </p:txBody>
      </p:sp>
      <p:sp>
        <p:nvSpPr>
          <p:cNvPr id="9" name="Rectangle 8"/>
          <p:cNvSpPr/>
          <p:nvPr/>
        </p:nvSpPr>
        <p:spPr>
          <a:xfrm>
            <a:off x="667096" y="1100605"/>
            <a:ext cx="822960" cy="45720"/>
          </a:xfrm>
          <a:prstGeom prst="rect">
            <a:avLst/>
          </a:prstGeom>
          <a:solidFill>
            <a:srgbClr val="E3AD31"/>
          </a:solidFill>
          <a:ln>
            <a:noFill/>
          </a:ln>
          <a:effectLst/>
        </p:spPr>
        <p:txBody>
          <a:bodyPr rtlCol="0" anchor="ctr"/>
          <a:lstStyle/>
          <a:p>
            <a:pPr algn="ctr"/>
            <a:endParaRPr/>
          </a:p>
        </p:txBody>
      </p:sp>
      <p:sp>
        <p:nvSpPr>
          <p:cNvPr id="11" name="Rectangle 10"/>
          <p:cNvSpPr/>
          <p:nvPr/>
        </p:nvSpPr>
        <p:spPr>
          <a:xfrm>
            <a:off x="822960" y="6367549"/>
            <a:ext cx="10515600" cy="10972"/>
          </a:xfrm>
          <a:prstGeom prst="rect">
            <a:avLst/>
          </a:prstGeom>
          <a:solidFill>
            <a:srgbClr val="D8E2E9"/>
          </a:solidFill>
          <a:ln>
            <a:noFill/>
          </a:ln>
          <a:effectLst/>
        </p:spPr>
        <p:txBody>
          <a:bodyPr rtlCol="0" anchor="ctr"/>
          <a:lstStyle/>
          <a:p>
            <a:pPr algn="ctr"/>
            <a:endParaRPr/>
          </a:p>
        </p:txBody>
      </p:sp>
      <p:sp>
        <p:nvSpPr>
          <p:cNvPr id="13" name="TextBox 12"/>
          <p:cNvSpPr txBox="1"/>
          <p:nvPr/>
        </p:nvSpPr>
        <p:spPr>
          <a:xfrm>
            <a:off x="10332720" y="6382512"/>
            <a:ext cx="1005840" cy="169277"/>
          </a:xfrm>
          <a:prstGeom prst="rect">
            <a:avLst/>
          </a:prstGeom>
          <a:noFill/>
        </p:spPr>
        <p:txBody>
          <a:bodyPr wrap="square" lIns="0" tIns="0" rIns="0" bIns="0" anchor="t">
            <a:spAutoFit/>
          </a:bodyPr>
          <a:lstStyle/>
          <a:p>
            <a:pPr algn="r"/>
            <a:r>
              <a:rPr lang="en-US" sz="1100" b="1" dirty="0">
                <a:solidFill>
                  <a:srgbClr val="566A7B"/>
                </a:solidFill>
                <a:latin typeface="Arial" panose="020B0604020202020204"/>
              </a:rPr>
              <a:t>30</a:t>
            </a:r>
            <a:endParaRPr sz="1100" b="1" dirty="0">
              <a:solidFill>
                <a:srgbClr val="566A7B"/>
              </a:solidFill>
              <a:latin typeface="Arial" panose="020B0604020202020204"/>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18980"/>
          </a:xfrm>
        </p:spPr>
        <p:txBody>
          <a:bodyPr>
            <a:normAutofit/>
          </a:bodyPr>
          <a:lstStyle/>
          <a:p>
            <a:pPr algn="l"/>
            <a:r>
              <a:rPr lang="en-US" sz="3200" b="1" u="sng" dirty="0"/>
              <a:t>Limitations</a:t>
            </a:r>
          </a:p>
        </p:txBody>
      </p:sp>
      <p:sp>
        <p:nvSpPr>
          <p:cNvPr id="3" name="Content Placeholder 2"/>
          <p:cNvSpPr>
            <a:spLocks noGrp="1"/>
          </p:cNvSpPr>
          <p:nvPr>
            <p:ph idx="1"/>
          </p:nvPr>
        </p:nvSpPr>
        <p:spPr>
          <a:xfrm>
            <a:off x="457199" y="1091046"/>
            <a:ext cx="11149445" cy="5035118"/>
          </a:xfrm>
        </p:spPr>
        <p:txBody>
          <a:bodyPr>
            <a:normAutofit/>
          </a:bodyPr>
          <a:lstStyle/>
          <a:p>
            <a:r>
              <a:rPr lang="en-US" sz="2400" dirty="0"/>
              <a:t>Restriction of Dataset: This study adopts METABRIC dataset that might not be representative of all populations of breast cancer patients.</a:t>
            </a:r>
          </a:p>
          <a:p>
            <a:r>
              <a:rPr lang="en-US" sz="2400" dirty="0"/>
              <a:t>Class Imbalance: The sample size of some of the molecular subtypes is very small.</a:t>
            </a:r>
          </a:p>
          <a:p>
            <a:r>
              <a:rPr lang="en-US" sz="2400" dirty="0"/>
              <a:t>Selection Bias: The test set information may have affected feature selection.</a:t>
            </a:r>
          </a:p>
          <a:p>
            <a:r>
              <a:rPr lang="en-US" sz="2400" dirty="0"/>
              <a:t>Insufficiency of Genes: Only five selected genes worked poorly compared to the whole feature set.</a:t>
            </a:r>
          </a:p>
          <a:p>
            <a:r>
              <a:rPr lang="en-US" sz="2400" dirty="0"/>
              <a:t>Small Increase of Survival Time: The C-index increased only by 0.0021.</a:t>
            </a:r>
          </a:p>
          <a:p>
            <a:r>
              <a:rPr lang="en-US" sz="2400" dirty="0"/>
              <a:t>No External Validation: The results need validation on other external data sets.</a:t>
            </a:r>
          </a:p>
        </p:txBody>
      </p:sp>
      <p:sp>
        <p:nvSpPr>
          <p:cNvPr id="5" name="Rectangle 4"/>
          <p:cNvSpPr/>
          <p:nvPr/>
        </p:nvSpPr>
        <p:spPr>
          <a:xfrm>
            <a:off x="0" y="0"/>
            <a:ext cx="12191695" cy="146304"/>
          </a:xfrm>
          <a:prstGeom prst="rect">
            <a:avLst/>
          </a:prstGeom>
          <a:solidFill>
            <a:srgbClr val="003E63"/>
          </a:solidFill>
          <a:ln>
            <a:noFill/>
          </a:ln>
          <a:effectLst/>
        </p:spPr>
        <p:txBody>
          <a:bodyPr rtlCol="0" anchor="ctr"/>
          <a:lstStyle/>
          <a:p>
            <a:pPr algn="ctr"/>
            <a:endParaRPr/>
          </a:p>
        </p:txBody>
      </p:sp>
      <p:sp>
        <p:nvSpPr>
          <p:cNvPr id="7" name="Rectangle 6"/>
          <p:cNvSpPr/>
          <p:nvPr/>
        </p:nvSpPr>
        <p:spPr>
          <a:xfrm>
            <a:off x="552796" y="962406"/>
            <a:ext cx="822960" cy="45720"/>
          </a:xfrm>
          <a:prstGeom prst="rect">
            <a:avLst/>
          </a:prstGeom>
          <a:solidFill>
            <a:srgbClr val="E3AD31"/>
          </a:solidFill>
          <a:ln>
            <a:noFill/>
          </a:ln>
          <a:effectLst/>
        </p:spPr>
        <p:txBody>
          <a:bodyPr rtlCol="0" anchor="ctr"/>
          <a:lstStyle/>
          <a:p>
            <a:pPr algn="ctr"/>
            <a:endParaRPr/>
          </a:p>
        </p:txBody>
      </p:sp>
      <p:sp>
        <p:nvSpPr>
          <p:cNvPr id="11" name="TextBox 10"/>
          <p:cNvSpPr txBox="1"/>
          <p:nvPr/>
        </p:nvSpPr>
        <p:spPr>
          <a:xfrm>
            <a:off x="10332720" y="6382512"/>
            <a:ext cx="1005840" cy="169277"/>
          </a:xfrm>
          <a:prstGeom prst="rect">
            <a:avLst/>
          </a:prstGeom>
          <a:noFill/>
        </p:spPr>
        <p:txBody>
          <a:bodyPr wrap="square" lIns="0" tIns="0" rIns="0" bIns="0" anchor="t">
            <a:spAutoFit/>
          </a:bodyPr>
          <a:lstStyle/>
          <a:p>
            <a:pPr algn="r"/>
            <a:r>
              <a:rPr lang="en-US" sz="1100" b="1" dirty="0">
                <a:solidFill>
                  <a:srgbClr val="566A7B"/>
                </a:solidFill>
                <a:latin typeface="Arial" panose="020B0604020202020204"/>
              </a:rPr>
              <a:t>31</a:t>
            </a:r>
            <a:endParaRPr sz="1100" b="1" dirty="0">
              <a:solidFill>
                <a:srgbClr val="566A7B"/>
              </a:solidFill>
              <a:latin typeface="Arial" panose="020B0604020202020204"/>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93195"/>
            <a:ext cx="10307781" cy="748376"/>
          </a:xfrm>
        </p:spPr>
        <p:txBody>
          <a:bodyPr>
            <a:noAutofit/>
          </a:bodyPr>
          <a:lstStyle/>
          <a:p>
            <a:pPr algn="l"/>
            <a:r>
              <a:rPr lang="en-US" sz="3200" b="1" u="sng" dirty="0"/>
              <a:t>Conclusion and Future Scope</a:t>
            </a:r>
            <a:br>
              <a:rPr lang="en-US" sz="3200" b="1" u="sng" dirty="0"/>
            </a:br>
            <a:endParaRPr lang="en-US" sz="3200" b="1" u="sng" dirty="0"/>
          </a:p>
        </p:txBody>
      </p:sp>
      <p:pic>
        <p:nvPicPr>
          <p:cNvPr id="9" name="Content Placeholder 8"/>
          <p:cNvPicPr>
            <a:picLocks noGrp="1" noChangeAspect="1"/>
          </p:cNvPicPr>
          <p:nvPr>
            <p:ph idx="1"/>
          </p:nvPr>
        </p:nvPicPr>
        <p:blipFill>
          <a:blip r:embed="rId2"/>
          <a:stretch>
            <a:fillRect/>
          </a:stretch>
        </p:blipFill>
        <p:spPr>
          <a:xfrm>
            <a:off x="0" y="-747"/>
            <a:ext cx="12192000" cy="146304"/>
          </a:xfrm>
          <a:prstGeom prst="rect">
            <a:avLst/>
          </a:prstGeom>
        </p:spPr>
      </p:pic>
      <p:sp>
        <p:nvSpPr>
          <p:cNvPr id="11" name="Rectangle 10"/>
          <p:cNvSpPr/>
          <p:nvPr/>
        </p:nvSpPr>
        <p:spPr>
          <a:xfrm>
            <a:off x="552796" y="1030633"/>
            <a:ext cx="822960" cy="45720"/>
          </a:xfrm>
          <a:prstGeom prst="rect">
            <a:avLst/>
          </a:prstGeom>
          <a:solidFill>
            <a:srgbClr val="E3AD31"/>
          </a:solidFill>
          <a:ln>
            <a:noFill/>
          </a:ln>
          <a:effectLst/>
        </p:spPr>
        <p:txBody>
          <a:bodyPr rtlCol="0" anchor="ctr"/>
          <a:lstStyle/>
          <a:p>
            <a:pPr algn="ctr"/>
            <a:endParaRPr/>
          </a:p>
        </p:txBody>
      </p:sp>
      <p:sp>
        <p:nvSpPr>
          <p:cNvPr id="12" name="TextBox 11"/>
          <p:cNvSpPr txBox="1"/>
          <p:nvPr/>
        </p:nvSpPr>
        <p:spPr>
          <a:xfrm>
            <a:off x="457200" y="1305341"/>
            <a:ext cx="11502736" cy="5509200"/>
          </a:xfrm>
          <a:prstGeom prst="rect">
            <a:avLst/>
          </a:prstGeom>
          <a:noFill/>
        </p:spPr>
        <p:txBody>
          <a:bodyPr wrap="square" rtlCol="0">
            <a:spAutoFit/>
          </a:bodyPr>
          <a:lstStyle/>
          <a:p>
            <a:pPr marL="285750" indent="-285750">
              <a:buFont typeface="Arial" panose="020B0604020202020204" pitchFamily="34" charset="0"/>
              <a:buChar char="•"/>
            </a:pPr>
            <a:r>
              <a:rPr lang="en-US" sz="2000" dirty="0"/>
              <a:t>Selection of Genes: Five genes were selected by the Consensus based Feature Selection method: EGFR, CDK1, GATA3, ERBB2, and ERBB3.</a:t>
            </a:r>
          </a:p>
          <a:p>
            <a:pPr marL="285750" indent="-285750">
              <a:buFont typeface="Arial" panose="020B0604020202020204" pitchFamily="34" charset="0"/>
              <a:buChar char="•"/>
            </a:pPr>
            <a:r>
              <a:rPr lang="en-US" sz="2000" dirty="0"/>
              <a:t>Classification Subtype: XGBoost attained an accuracy rate of 83.46% and macro-F1 score of 0.6780 on full feature set.</a:t>
            </a:r>
          </a:p>
          <a:p>
            <a:pPr marL="285750" indent="-285750">
              <a:buFont typeface="Arial" panose="020B0604020202020204" pitchFamily="34" charset="0"/>
              <a:buChar char="•"/>
            </a:pPr>
            <a:r>
              <a:rPr lang="en-US" sz="2000" dirty="0"/>
              <a:t>Survival analysis: The addition of five genes resulted in an improvement of C-index value from 0.6834 to 0.6855.</a:t>
            </a:r>
          </a:p>
          <a:p>
            <a:pPr marL="285750" indent="-285750">
              <a:buFont typeface="Arial" panose="020B0604020202020204" pitchFamily="34" charset="0"/>
              <a:buChar char="•"/>
            </a:pPr>
            <a:r>
              <a:rPr lang="en-US" sz="2000" dirty="0"/>
              <a:t>Conclusion: This work shows that the combination of Machine Learning, Gene selection, and Survival analysis is helpful for breast cancer classification and prognosis.</a:t>
            </a:r>
            <a:endParaRPr lang="en-US" dirty="0"/>
          </a:p>
          <a:p>
            <a:r>
              <a:rPr lang="en-US" sz="3200" b="1" u="sng" dirty="0"/>
              <a:t>Future Scope</a:t>
            </a:r>
            <a:endParaRPr lang="en-US" sz="3200" dirty="0"/>
          </a:p>
          <a:p>
            <a:pPr marL="285750" indent="-285750">
              <a:buFont typeface="Arial" panose="020B0604020202020204" pitchFamily="34" charset="0"/>
              <a:buChar char="•"/>
            </a:pPr>
            <a:r>
              <a:rPr lang="en-US" sz="2000" dirty="0"/>
              <a:t> External Validity: Validate the models on external breast cancer data sets.</a:t>
            </a:r>
          </a:p>
          <a:p>
            <a:pPr marL="285750" indent="-285750">
              <a:buFont typeface="Arial" panose="020B0604020202020204" pitchFamily="34" charset="0"/>
              <a:buChar char="•"/>
            </a:pPr>
            <a:r>
              <a:rPr lang="en-US" sz="2000" dirty="0"/>
              <a:t> Enhanced Feature Selection: Employing nested cross-validation to minimize data leakage and feature       </a:t>
            </a:r>
            <a:br>
              <a:rPr lang="en-US" sz="2000" dirty="0"/>
            </a:br>
            <a:r>
              <a:rPr lang="en-US" sz="2000" dirty="0"/>
              <a:t> selection bias.</a:t>
            </a:r>
          </a:p>
          <a:p>
            <a:pPr marL="285750" indent="-285750">
              <a:buFont typeface="Arial" panose="020B0604020202020204" pitchFamily="34" charset="0"/>
              <a:buChar char="•"/>
            </a:pPr>
            <a:r>
              <a:rPr lang="en-US" sz="2000" dirty="0"/>
              <a:t> Imbalanced Data Problem: Address this issue through class weighting or resampling.</a:t>
            </a:r>
          </a:p>
          <a:p>
            <a:pPr marL="285750" indent="-285750">
              <a:buFont typeface="Arial" panose="020B0604020202020204" pitchFamily="34" charset="0"/>
              <a:buChar char="•"/>
            </a:pPr>
            <a:r>
              <a:rPr lang="en-US" sz="2000" dirty="0"/>
              <a:t> More Complex Algorithms: Try out deep learning and ensemble methods for better classification.</a:t>
            </a:r>
          </a:p>
          <a:p>
            <a:pPr marL="285750" indent="-285750">
              <a:buFont typeface="Arial" panose="020B0604020202020204" pitchFamily="34" charset="0"/>
              <a:buChar char="•"/>
            </a:pPr>
            <a:r>
              <a:rPr lang="en-US" sz="2000" dirty="0"/>
              <a:t> Further Survival Analysis: Perform this on more clinical and genetic features using proper validation.</a:t>
            </a:r>
          </a:p>
          <a:p>
            <a:pPr marL="285750" indent="-285750">
              <a:buFont typeface="Arial" panose="020B0604020202020204" pitchFamily="34" charset="0"/>
              <a:buChar char="•"/>
            </a:pPr>
            <a:r>
              <a:rPr lang="en-US" sz="2000" dirty="0"/>
              <a:t> Future Research Possibility: See whether the chosen genes can contribute to further research on    </a:t>
            </a:r>
            <a:br>
              <a:rPr lang="en-US" sz="2000" dirty="0"/>
            </a:br>
            <a:r>
              <a:rPr lang="en-US" sz="2000" dirty="0"/>
              <a:t> breast cancer.</a:t>
            </a:r>
          </a:p>
        </p:txBody>
      </p:sp>
      <p:sp>
        <p:nvSpPr>
          <p:cNvPr id="16" name="TextBox 15"/>
          <p:cNvSpPr txBox="1"/>
          <p:nvPr/>
        </p:nvSpPr>
        <p:spPr>
          <a:xfrm>
            <a:off x="10332720" y="6382512"/>
            <a:ext cx="1005840" cy="169277"/>
          </a:xfrm>
          <a:prstGeom prst="rect">
            <a:avLst/>
          </a:prstGeom>
          <a:noFill/>
        </p:spPr>
        <p:txBody>
          <a:bodyPr wrap="square" lIns="0" tIns="0" rIns="0" bIns="0" anchor="t">
            <a:spAutoFit/>
          </a:bodyPr>
          <a:lstStyle/>
          <a:p>
            <a:pPr algn="r"/>
            <a:r>
              <a:rPr lang="en-US" sz="1100" b="1" dirty="0">
                <a:solidFill>
                  <a:srgbClr val="566A7B"/>
                </a:solidFill>
                <a:latin typeface="Arial" panose="020B0604020202020204"/>
              </a:rPr>
              <a:t>32</a:t>
            </a:r>
            <a:endParaRPr sz="1100" b="1" dirty="0">
              <a:solidFill>
                <a:srgbClr val="566A7B"/>
              </a:solidFill>
              <a:latin typeface="Arial" panose="020B0604020202020204"/>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03E63"/>
          </a:solidFill>
          <a:ln>
            <a:noFill/>
          </a:ln>
          <a:effectLst/>
        </p:spPr>
        <p:txBody>
          <a:bodyPr rtlCol="0" anchor="ctr"/>
          <a:lstStyle/>
          <a:p>
            <a:pPr algn="ctr"/>
            <a:endParaRPr/>
          </a:p>
        </p:txBody>
      </p:sp>
      <p:sp>
        <p:nvSpPr>
          <p:cNvPr id="3" name="Rectangle 2"/>
          <p:cNvSpPr/>
          <p:nvPr/>
        </p:nvSpPr>
        <p:spPr>
          <a:xfrm>
            <a:off x="914400" y="3246120"/>
            <a:ext cx="1097280" cy="54864"/>
          </a:xfrm>
          <a:prstGeom prst="rect">
            <a:avLst/>
          </a:prstGeom>
          <a:solidFill>
            <a:srgbClr val="E3AD31"/>
          </a:solidFill>
          <a:ln>
            <a:noFill/>
          </a:ln>
          <a:effectLst/>
        </p:spPr>
        <p:txBody>
          <a:bodyPr rtlCol="0" anchor="ctr"/>
          <a:lstStyle/>
          <a:p>
            <a:pPr algn="ctr"/>
            <a:endParaRPr/>
          </a:p>
        </p:txBody>
      </p:sp>
      <p:sp>
        <p:nvSpPr>
          <p:cNvPr id="5" name="TextBox 4"/>
          <p:cNvSpPr txBox="1"/>
          <p:nvPr/>
        </p:nvSpPr>
        <p:spPr>
          <a:xfrm>
            <a:off x="914400" y="2103120"/>
            <a:ext cx="10332720" cy="1005840"/>
          </a:xfrm>
          <a:prstGeom prst="rect">
            <a:avLst/>
          </a:prstGeom>
          <a:noFill/>
        </p:spPr>
        <p:txBody>
          <a:bodyPr wrap="square" lIns="0" tIns="0" rIns="0" bIns="0" anchor="t">
            <a:spAutoFit/>
          </a:bodyPr>
          <a:lstStyle/>
          <a:p>
            <a:pPr algn="l"/>
            <a:r>
              <a:rPr sz="4600" b="1" dirty="0">
                <a:solidFill>
                  <a:srgbClr val="FFFFFF"/>
                </a:solidFill>
                <a:latin typeface="Arial" panose="020B0604020202020204"/>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127</TotalTime>
  <Words>2868</Words>
  <Application>Microsoft Office PowerPoint</Application>
  <PresentationFormat>Widescreen</PresentationFormat>
  <Paragraphs>262</Paragraphs>
  <Slides>35</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BREAST CANCER PROGNOSIS &amp; SUBTYPE CLASSIFICATION</vt:lpstr>
      <vt:lpstr>Team Details</vt:lpstr>
      <vt:lpstr>PowerPoint Presentation</vt:lpstr>
      <vt:lpstr>PowerPoint Presentation</vt:lpstr>
      <vt:lpstr>PowerPoint Presentation</vt:lpstr>
      <vt:lpstr>PowerPoint Presentation</vt:lpstr>
      <vt:lpstr>PowerPoint Presentation</vt:lpstr>
      <vt:lpstr> DATASET  OVERVIEW FOR BREAST CANCER ANALYSIS</vt:lpstr>
      <vt:lpstr>Distribution of seven molecular subtype classes in the breast cancer dataset</vt:lpstr>
      <vt:lpstr>PowerPoint Presentation</vt:lpstr>
      <vt:lpstr>PowerPoint Presentation</vt:lpstr>
      <vt:lpstr>PowerPoint Presentation</vt:lpstr>
      <vt:lpstr>PowerPoint Presentation</vt:lpstr>
      <vt:lpstr>PowerPoint Presentation</vt:lpstr>
      <vt:lpstr>PowerPoint Presentation</vt:lpstr>
      <vt:lpstr>Combining Multiple Methods for Reliable Gene Selection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Limitations</vt:lpstr>
      <vt:lpstr>Conclusion and Future Scope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Lenovo</dc:creator>
  <dc:description>generated using python-pptx</dc:description>
  <cp:lastModifiedBy>Priyanshu Behera</cp:lastModifiedBy>
  <cp:revision>39</cp:revision>
  <dcterms:created xsi:type="dcterms:W3CDTF">2013-01-27T09:14:00Z</dcterms:created>
  <dcterms:modified xsi:type="dcterms:W3CDTF">2026-10-12T18:08:28Z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1033-12.1.0.29162</vt:lpwstr>
  </property>
  <property fmtid="{D5CDD505-2E9C-101B-9397-08002B2CF9AE}" pid="3" name="ICV">
    <vt:lpwstr>25473C7F29E44BB1A421B53E3D1D7775_12</vt:lpwstr>
  </property>
</Properties>
</file>